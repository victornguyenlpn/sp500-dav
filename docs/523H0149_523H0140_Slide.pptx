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86" r:id="rId8"/>
    <p:sldId id="287" r:id="rId9"/>
    <p:sldId id="288" r:id="rId10"/>
    <p:sldId id="289" r:id="rId11"/>
    <p:sldId id="290" r:id="rId12"/>
    <p:sldId id="291" r:id="rId13"/>
    <p:sldId id="293" r:id="rId14"/>
    <p:sldId id="321" r:id="rId15"/>
    <p:sldId id="322" r:id="rId16"/>
    <p:sldId id="323" r:id="rId17"/>
    <p:sldId id="307" r:id="rId18"/>
    <p:sldId id="308" r:id="rId19"/>
    <p:sldId id="309" r:id="rId20"/>
    <p:sldId id="292" r:id="rId21"/>
    <p:sldId id="294" r:id="rId22"/>
    <p:sldId id="295" r:id="rId23"/>
    <p:sldId id="296" r:id="rId24"/>
    <p:sldId id="297" r:id="rId25"/>
    <p:sldId id="298" r:id="rId26"/>
    <p:sldId id="299" r:id="rId27"/>
    <p:sldId id="304" r:id="rId28"/>
    <p:sldId id="305" r:id="rId29"/>
    <p:sldId id="306" r:id="rId30"/>
    <p:sldId id="285" r:id="rId31"/>
  </p:sldIdLst>
  <p:sldSz cx="18288000" cy="10287000"/>
  <p:notesSz cx="6858000" cy="9144000"/>
  <p:embeddedFontLst>
    <p:embeddedFont>
      <p:font typeface="Arial" panose="020B0604020202020204" charset="0"/>
      <p:regular r:id="rId35"/>
    </p:embeddedFont>
    <p:embeddedFont>
      <p:font typeface="Arial Bold" panose="020B0704020202020204" charset="0"/>
      <p:regular r:id="rId36"/>
    </p:embeddedFont>
    <p:embeddedFont>
      <p:font typeface="Arial Italics" panose="020B0604020202090204" charset="0"/>
      <p:regular r:id="rId37"/>
    </p:embeddedFont>
    <p:embeddedFont>
      <p:font typeface="Arial Bold Italics" panose="020B0704020202090204" charset="0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8" Type="http://schemas.openxmlformats.org/officeDocument/2006/relationships/font" Target="fonts/font4.fntdata"/><Relationship Id="rId37" Type="http://schemas.openxmlformats.org/officeDocument/2006/relationships/font" Target="fonts/font3.fntdata"/><Relationship Id="rId36" Type="http://schemas.openxmlformats.org/officeDocument/2006/relationships/font" Target="fonts/font2.fntdata"/><Relationship Id="rId35" Type="http://schemas.openxmlformats.org/officeDocument/2006/relationships/font" Target="fonts/font1.fntdata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5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5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5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5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5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5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5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5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5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5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5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5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.xml"/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3.png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github.com/VictorNguyenLPN/sp500-data-visualization-and-analytics" TargetMode="External"/><Relationship Id="rId3" Type="http://schemas.openxmlformats.org/officeDocument/2006/relationships/hyperlink" Target="data:image/png;base64,iVBORw0KGgoAAAANSUhEUgAAAfQAAAH0CAYAAADL1t+KAAAQAElEQVR4Aez9X8wVWVb/j+9q0+PESITYDFfERiFRYjR4AUpCpDXhQlGMYhtD4vQA4V9PwpBgRi5mfPAfY+xIUIEGgQ9zwcW0qGHEmJD4m4eQYCAaEieiBvxNT/qKhgRMTzIXHae/vM5DPZznnPqz1669d+1dZ3V6P1W1a+213+u9Vu1VdU6dxSuf6H" TargetMode="External"/><Relationship Id="rId2" Type="http://schemas.openxmlformats.org/officeDocument/2006/relationships/hyperlink" Target="https://drive.google.com/file/d/162bzx6WAxdkg9eNVcXbCQ396FCso7_YE/view?usp=sharing" TargetMode="External"/><Relationship Id="rId1" Type="http://schemas.openxmlformats.org/officeDocument/2006/relationships/hyperlink" Target="https://docs.google.com/presentation/d/1FO1asinfNBWEHYWXdAyIK7XZXjE1DXT3/edit?usp=sharing&amp;ouid=103831788798902084283&amp;rtpof=true&amp;sd=true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5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998160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grpSp>
        <p:nvGrpSpPr>
          <p:cNvPr id="4" name="Group 4"/>
          <p:cNvGrpSpPr/>
          <p:nvPr/>
        </p:nvGrpSpPr>
        <p:grpSpPr>
          <a:xfrm rot="0">
            <a:off x="590535" y="2803110"/>
            <a:ext cx="17106930" cy="4680779"/>
            <a:chOff x="0" y="0"/>
            <a:chExt cx="22809240" cy="6241039"/>
          </a:xfrm>
        </p:grpSpPr>
        <p:sp>
          <p:nvSpPr>
            <p:cNvPr id="5" name="TextBox 5"/>
            <p:cNvSpPr txBox="1"/>
            <p:nvPr/>
          </p:nvSpPr>
          <p:spPr>
            <a:xfrm>
              <a:off x="1693" y="-152400"/>
              <a:ext cx="22805853" cy="35915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40"/>
                </a:lnSpc>
              </a:pPr>
              <a:r>
                <a:rPr lang="en-US" sz="4000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rPr>
                <a:t>Da</a:t>
              </a:r>
              <a:r>
                <a:rPr lang="en-US" sz="4000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rPr>
                <a:t>ta Analytics and Visualization</a:t>
              </a:r>
              <a:endParaRPr lang="en-US" sz="40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  <a:p>
              <a:pPr algn="ctr">
                <a:lnSpc>
                  <a:spcPts val="9360"/>
                </a:lnSpc>
              </a:pPr>
              <a:r>
                <a:rPr lang="en-US" sz="60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MIDTERM ESSAY</a:t>
              </a:r>
              <a:endParaRPr lang="en-US" sz="6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endParaRPr>
            </a:p>
            <a:p>
              <a:pPr algn="ctr">
                <a:lnSpc>
                  <a:spcPts val="6240"/>
                </a:lnSpc>
              </a:pPr>
              <a:r>
                <a:rPr lang="en-US" sz="4000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rPr>
                <a:t>SP500 Index with Macroeconomics 2011 - 2023</a:t>
              </a:r>
              <a:endParaRPr lang="en-US" sz="40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3947419"/>
              <a:ext cx="22809240" cy="22936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680"/>
                </a:lnSpc>
              </a:pPr>
              <a:r>
                <a:rPr lang="en-US" sz="3000" i="1">
                  <a:solidFill>
                    <a:srgbClr val="595959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Presented by </a:t>
              </a:r>
              <a:r>
                <a:rPr lang="en-US" sz="3000" b="1" i="1">
                  <a:solidFill>
                    <a:srgbClr val="595959"/>
                  </a:solidFill>
                  <a:latin typeface="Arial Bold Italics"/>
                  <a:ea typeface="Arial Bold Italics"/>
                  <a:cs typeface="Arial Bold Italics"/>
                  <a:sym typeface="Arial Bold Italics"/>
                </a:rPr>
                <a:t>Nguyen Quang Huy</a:t>
              </a:r>
              <a:r>
                <a:rPr lang="en-US" sz="3000" i="1">
                  <a:solidFill>
                    <a:srgbClr val="595959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 - </a:t>
              </a:r>
              <a:r>
                <a:rPr lang="en-US" sz="3000" b="1" i="1">
                  <a:solidFill>
                    <a:srgbClr val="595959"/>
                  </a:solidFill>
                  <a:latin typeface="Arial Bold Italics"/>
                  <a:ea typeface="Arial Bold Italics"/>
                  <a:cs typeface="Arial Bold Italics"/>
                  <a:sym typeface="Arial Bold Italics"/>
                </a:rPr>
                <a:t>Nguyen Gia Nhat Khanh </a:t>
              </a:r>
              <a:endParaRPr lang="en-US" sz="3000" b="1" i="1">
                <a:solidFill>
                  <a:srgbClr val="595959"/>
                </a:solidFill>
                <a:latin typeface="Arial Bold Italics"/>
                <a:ea typeface="Arial Bold Italics"/>
                <a:cs typeface="Arial Bold Italics"/>
                <a:sym typeface="Arial Bold Italics"/>
              </a:endParaRPr>
            </a:p>
            <a:p>
              <a:pPr algn="ctr">
                <a:lnSpc>
                  <a:spcPts val="4680"/>
                </a:lnSpc>
              </a:pPr>
              <a:r>
                <a:rPr lang="en-US" sz="3000" i="1">
                  <a:solidFill>
                    <a:srgbClr val="595959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Faculty of Information Technology, Ton Duc Thang University  </a:t>
              </a:r>
              <a:endParaRPr lang="en-US" sz="30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endParaRPr>
            </a:p>
            <a:p>
              <a:pPr algn="ctr">
                <a:lnSpc>
                  <a:spcPts val="4680"/>
                </a:lnSpc>
              </a:pPr>
              <a:r>
                <a:rPr lang="en-US" sz="3000" i="1">
                  <a:solidFill>
                    <a:srgbClr val="595959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Email: {523h0140, 523h0149}@student.tdtu.edu.vn</a:t>
              </a:r>
              <a:endParaRPr lang="en-US" sz="30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90535" y="518140"/>
            <a:ext cx="17106930" cy="876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QR Code</a:t>
            </a:r>
            <a:endParaRPr lang="en-US" sz="5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889745" y="7456150"/>
            <a:ext cx="3463320" cy="571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  <a:hlinkClick r:id="rId1" tooltip="https://docs.google.com/presentation/d/1zZgImsjH6p6DlHcs6r1B7Y7PeTsr5m19/edit?usp=drive_link&amp;ouid=111647130161240735330&amp;rtpof=true&amp;sd=true" action="ppaction://hlinkfile"/>
              </a:rPr>
              <a:t>Presentation slide</a:t>
            </a:r>
            <a:endParaRPr lang="en-US" sz="3000" b="1" u="sng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  <a:hlinkClick r:id="rId1" tooltip="https://docs.google.com/presentation/d/1zZgImsjH6p6DlHcs6r1B7Y7PeTsr5m19/edit?usp=drive_link&amp;ouid=111647130161240735330&amp;rtpof=true&amp;sd=true" action="ppaction://hlinkfile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7169135" y="7456150"/>
            <a:ext cx="3949730" cy="461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  <a:hlinkClick r:id="rId2" tooltip="https://colab.research.google.com/drive/1Ivpvc8IToTvuqBojlh_Oh1W8E_uR8WSN?authuser=1" action="ppaction://hlinkfile"/>
              </a:rPr>
              <a:t>Implementation</a:t>
            </a:r>
            <a:endParaRPr lang="en-US" sz="3000" b="1" u="sng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  <a:hlinkClick r:id="rId2" tooltip="https://colab.research.google.com/drive/1Ivpvc8IToTvuqBojlh_Oh1W8E_uR8WSN?authuser=1" action="ppaction://hlinkfile"/>
            </a:endParaRPr>
          </a:p>
        </p:txBody>
      </p:sp>
      <p:sp>
        <p:nvSpPr>
          <p:cNvPr id="13" name="TextBox 13">
            <a:hlinkClick r:id="rId3" action="ppaction://hlinkfile"/>
          </p:cNvPr>
          <p:cNvSpPr txBox="1"/>
          <p:nvPr/>
        </p:nvSpPr>
        <p:spPr>
          <a:xfrm>
            <a:off x="12932395" y="7456150"/>
            <a:ext cx="3463320" cy="571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1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  <a:hlinkClick r:id="rId4" tooltip="https://github.com/VictorNguyenLPN/gans-research" action="ppaction://hlinkfile"/>
              </a:rPr>
              <a:t>Github Resources</a:t>
            </a:r>
            <a:endParaRPr lang="en-US" sz="3000" b="1" u="sng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  <a:hlinkClick r:id="rId4" tooltip="https://github.com/VictorNguyenLPN/gans-research" action="ppaction://hlinkfile"/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750" y="2762250"/>
            <a:ext cx="4762500" cy="4762500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82805" y="2628900"/>
            <a:ext cx="4762500" cy="4762500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5400" y="2762250"/>
            <a:ext cx="4762500" cy="4762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90535" y="518140"/>
            <a:ext cx="17106930" cy="876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Outline</a:t>
            </a:r>
            <a:endParaRPr lang="en-US" sz="5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33400" y="1714500"/>
            <a:ext cx="17220565" cy="60325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64565" lvl="1" indent="-482600" algn="l">
              <a:lnSpc>
                <a:spcPts val="6720"/>
              </a:lnSpc>
              <a:buAutoNum type="arabicPeriod"/>
            </a:pPr>
            <a:r>
              <a:rPr lang="en-US" sz="40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Introduction</a:t>
            </a:r>
            <a:endParaRPr lang="en-US" sz="40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964565" lvl="1" indent="-482600" algn="l">
              <a:lnSpc>
                <a:spcPts val="6720"/>
              </a:lnSpc>
              <a:buAutoNum type="arabicPeriod"/>
            </a:pPr>
            <a:r>
              <a:rPr lang="en-US" sz="40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en-US" sz="40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964565" lvl="1" indent="-482600" algn="l">
              <a:lnSpc>
                <a:spcPts val="6720"/>
              </a:lnSpc>
              <a:buAutoNum type="arabicPeriod"/>
            </a:pPr>
            <a:r>
              <a:rPr lang="en-US" sz="40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en-US" sz="40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Probability Distribution Analysis</a:t>
            </a:r>
            <a:endParaRPr lang="en-US" sz="40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965200" lvl="1" indent="-482600" algn="l">
              <a:lnSpc>
                <a:spcPts val="6720"/>
              </a:lnSpc>
              <a:buAutoNum type="arabicPeriod"/>
            </a:pPr>
            <a:r>
              <a:rPr lang="en-US" sz="40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en-US" sz="40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Hypothesis Testing</a:t>
            </a:r>
            <a:endParaRPr lang="en-US" sz="40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965200" lvl="1" indent="-482600" algn="l">
              <a:lnSpc>
                <a:spcPts val="6720"/>
              </a:lnSpc>
              <a:buAutoNum type="arabicPeriod"/>
            </a:pPr>
            <a:r>
              <a:rPr lang="en-US" sz="40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Correlation Analysis</a:t>
            </a:r>
            <a:endParaRPr lang="en-US" sz="40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964565" lvl="1" indent="-482600" algn="l">
              <a:lnSpc>
                <a:spcPts val="6720"/>
              </a:lnSpc>
              <a:buAutoNum type="arabicPeriod"/>
            </a:pPr>
            <a:r>
              <a:rPr lang="en-US" sz="40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Multiple Linear Regression</a:t>
            </a:r>
            <a:endParaRPr lang="en-US" sz="40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964565" lvl="1" indent="-482600" algn="l">
              <a:lnSpc>
                <a:spcPts val="6720"/>
              </a:lnSpc>
              <a:buAutoNum type="arabicPeriod"/>
            </a:pPr>
            <a:r>
              <a:rPr lang="en-US" sz="40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en-US" sz="40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Conclusion</a:t>
            </a:r>
            <a:endParaRPr lang="en-US" sz="40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9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1. Introduction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625087" y="1887855"/>
            <a:ext cx="17037825" cy="4708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Analyze the </a:t>
            </a:r>
            <a:r>
              <a:rPr lang="en-US" sz="60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S&amp;P 500 Index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by applying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 structured data analysis 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approach, using a </a:t>
            </a:r>
            <a:r>
              <a:rPr lang="en-US" sz="49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time series dataset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combining the S&amp;P 500 Index with </a:t>
            </a:r>
            <a:r>
              <a:rPr lang="en-US" sz="60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macroeconomic indicators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(CPI, GLD, IEF, VIXY, UUP, USO) from </a:t>
            </a:r>
            <a:r>
              <a:rPr lang="en-US" sz="3500" i="1" u="sng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January 4, 2011 to December 12, 2023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.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9" name="TextBox 5"/>
          <p:cNvSpPr txBox="1"/>
          <p:nvPr/>
        </p:nvSpPr>
        <p:spPr>
          <a:xfrm>
            <a:off x="625087" y="1887855"/>
            <a:ext cx="17037825" cy="1615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SP500 Daily index:</a:t>
            </a:r>
            <a:endParaRPr lang="en-US" sz="35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From 1927 to 2024 with 24367 record</a:t>
            </a:r>
            <a:r>
              <a:rPr lang="vi-VN" alt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en-US" altLang="vi-VN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 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 variables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aphicFrame>
        <p:nvGraphicFramePr>
          <p:cNvPr id="10" name="Table 9"/>
          <p:cNvGraphicFramePr/>
          <p:nvPr/>
        </p:nvGraphicFramePr>
        <p:xfrm>
          <a:off x="629920" y="4000500"/>
          <a:ext cx="17049750" cy="4814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5550"/>
                <a:gridCol w="14554200"/>
              </a:tblGrid>
              <a:tr h="71818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Description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853440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Opening price of the index on a given trading day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381000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Highest price of the index during the trading day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654685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Lowest price of the index during the trading day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911225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Close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Closing price of the index at the end of the trading day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381000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Volume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 total number of shares traded for the index constituents on that day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9" name="TextBox 5"/>
          <p:cNvSpPr txBox="1"/>
          <p:nvPr/>
        </p:nvSpPr>
        <p:spPr>
          <a:xfrm>
            <a:off x="625087" y="1887855"/>
            <a:ext cx="17037825" cy="1615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Macroeconomics Daily index:</a:t>
            </a:r>
            <a:endParaRPr lang="en-US" sz="35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From 2000 to 2024 with 6000 record</a:t>
            </a:r>
            <a:r>
              <a:rPr lang="vi-VN" alt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en-US" altLang="vi-VN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 6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variables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aphicFrame>
        <p:nvGraphicFramePr>
          <p:cNvPr id="10" name="Table 9"/>
          <p:cNvGraphicFramePr/>
          <p:nvPr/>
        </p:nvGraphicFramePr>
        <p:xfrm>
          <a:off x="624840" y="3924300"/>
          <a:ext cx="17511395" cy="5707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860"/>
                <a:gridCol w="14948535"/>
              </a:tblGrid>
              <a:tr h="71755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Description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852805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VIXY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CBOE Volatility Index, representing expected market volatility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IEF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U.S. 10-Year Treasury Yield, reflecting long-term interest rate expectations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894715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UUP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Measuring the value of the U.S. dollar against a basket of major currencies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910590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USO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Crude oil price per barrel 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GLD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Gold spot price per ounce, representing a key safe-haven asset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CPI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U.S. Consumer Price Index, representing inflation levels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800" y="3009900"/>
            <a:ext cx="15645977" cy="4572000"/>
          </a:xfrm>
          <a:prstGeom prst="rect">
            <a:avLst/>
          </a:prstGeom>
        </p:spPr>
      </p:pic>
      <p:sp>
        <p:nvSpPr>
          <p:cNvPr id="13" name="TextBox 5"/>
          <p:cNvSpPr txBox="1"/>
          <p:nvPr/>
        </p:nvSpPr>
        <p:spPr>
          <a:xfrm>
            <a:off x="625087" y="1887855"/>
            <a:ext cx="17037825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Close Index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Trading Volume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800" y="3314700"/>
            <a:ext cx="15646048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Trading Volume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800" y="3314700"/>
            <a:ext cx="15646048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Macro economics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1"/>
          <a:srcRect b="49930"/>
          <a:stretch>
            <a:fillRect/>
          </a:stretch>
        </p:blipFill>
        <p:spPr>
          <a:xfrm>
            <a:off x="3110230" y="2781300"/>
            <a:ext cx="12067540" cy="7264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Macro economics (Normalized)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1"/>
          <a:srcRect t="50008"/>
          <a:stretch>
            <a:fillRect/>
          </a:stretch>
        </p:blipFill>
        <p:spPr>
          <a:xfrm>
            <a:off x="3446145" y="2933700"/>
            <a:ext cx="11395557" cy="68488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vi-VN" alt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Line </a:t>
            </a:r>
            <a:r>
              <a:rPr lang="en-US" altLang="vi-VN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Chart (Close Index)</a:t>
            </a:r>
            <a:endParaRPr lang="en-US" altLang="vi-VN" sz="35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2933700"/>
            <a:ext cx="17238416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vi-VN" alt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Line </a:t>
            </a:r>
            <a:r>
              <a:rPr lang="en-US" altLang="vi-VN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Chart (Trading Volume)</a:t>
            </a:r>
            <a:endParaRPr lang="en-US" altLang="vi-VN" sz="35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840" y="3086100"/>
            <a:ext cx="17238765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vi-VN" alt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Line </a:t>
            </a:r>
            <a:r>
              <a:rPr lang="en-US" altLang="vi-VN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Chart (Combined)</a:t>
            </a:r>
            <a:endParaRPr lang="en-US" altLang="vi-VN" sz="35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3725" y="2857500"/>
            <a:ext cx="14561185" cy="72370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8079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Outlier Detection</a:t>
            </a:r>
            <a:endParaRPr lang="en-US" sz="35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vi-VN" altLang="en-US" sz="35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1. </a:t>
            </a:r>
            <a:r>
              <a:rPr lang="en-US" sz="35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Z-score: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Identifies outliers by measuring how many standard deviations a point is from the mean.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vi-VN" altLang="en-US" sz="35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2. </a:t>
            </a:r>
            <a:r>
              <a:rPr lang="en-US" sz="35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IQR: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Detects outliers as values falling below Q1 − 1.5×IQR or above Q3 + 1.5×IQR.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vi-VN" altLang="en-US" sz="35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3. </a:t>
            </a:r>
            <a:r>
              <a:rPr lang="en-US" sz="35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Rolling Z-score:</a:t>
            </a:r>
            <a:r>
              <a:rPr lang="en-US" sz="350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Applies Z-score on a moving window to find outliers in time series data.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vi-VN" altLang="en-US" sz="35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4. </a:t>
            </a:r>
            <a:r>
              <a:rPr lang="en-US" sz="35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Seasonal Decomposition Residuals: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Flags outliers as large deviations in the residual component after decomposing trend and seasonality.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vi-VN" altLang="en-US" sz="35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5. </a:t>
            </a:r>
            <a:r>
              <a:rPr lang="en-US" sz="35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Isolation Forest:</a:t>
            </a:r>
            <a:r>
              <a:rPr lang="en-US" sz="350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Uses an ensemble of random trees to isolate anomalies that require fewer splits to separate.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533400" y="-71755"/>
            <a:ext cx="17221200" cy="10356850"/>
            <a:chOff x="840" y="-113"/>
            <a:chExt cx="27120" cy="16310"/>
          </a:xfrm>
        </p:grpSpPr>
        <p:cxnSp>
          <p:nvCxnSpPr>
            <p:cNvPr id="6" name="Straight Connector 5"/>
            <p:cNvCxnSpPr/>
            <p:nvPr/>
          </p:nvCxnSpPr>
          <p:spPr>
            <a:xfrm>
              <a:off x="840" y="-113"/>
              <a:ext cx="0" cy="16311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>
              <a:off x="27960" y="-113"/>
              <a:ext cx="0" cy="16311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5"/>
          <p:cNvSpPr txBox="1"/>
          <p:nvPr/>
        </p:nvSpPr>
        <p:spPr>
          <a:xfrm>
            <a:off x="625087" y="1887855"/>
            <a:ext cx="17037825" cy="1615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Outlier Detection</a:t>
            </a:r>
            <a:endParaRPr lang="en-US" sz="35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8585" y="2933700"/>
            <a:ext cx="12990195" cy="650621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Exploratory Data Analysis (EDA)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533400" y="-70485"/>
            <a:ext cx="17221200" cy="10356850"/>
            <a:chOff x="840" y="-113"/>
            <a:chExt cx="27120" cy="16310"/>
          </a:xfrm>
        </p:grpSpPr>
        <p:cxnSp>
          <p:nvCxnSpPr>
            <p:cNvPr id="6" name="Straight Connector 5"/>
            <p:cNvCxnSpPr/>
            <p:nvPr/>
          </p:nvCxnSpPr>
          <p:spPr>
            <a:xfrm>
              <a:off x="840" y="-113"/>
              <a:ext cx="0" cy="16311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>
              <a:off x="27960" y="-113"/>
              <a:ext cx="0" cy="16311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5"/>
          <p:cNvSpPr txBox="1"/>
          <p:nvPr/>
        </p:nvSpPr>
        <p:spPr>
          <a:xfrm>
            <a:off x="625087" y="1887855"/>
            <a:ext cx="17037825" cy="1615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Outlier Detection</a:t>
            </a:r>
            <a:endParaRPr lang="en-US" sz="35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2610" y="2705100"/>
            <a:ext cx="14622780" cy="72745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3.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Probability Distribution Analysis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Close Index and Trading Volume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6400" y="3009900"/>
            <a:ext cx="14843992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3.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Probability Distribution Analysis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VIXY and IEF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3705" y="3086100"/>
            <a:ext cx="14843992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3.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Probability Distribution Analysis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1615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Normality Test and Distribution Fit</a:t>
            </a:r>
            <a:endParaRPr lang="en-US" sz="35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Apply Shapiro-Wilk and Kolmogorov-Smirnow test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0045" y="3771900"/>
            <a:ext cx="15028545" cy="498475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4.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Hypothesis Testing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4847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T-test</a:t>
            </a:r>
            <a:endParaRPr lang="en-US" sz="35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Is there a significant difference in trading volume between periods of low volatility and high volatility in the stock market?</a:t>
            </a:r>
            <a:endParaRPr lang="en-US" sz="3500">
              <a:solidFill>
                <a:srgbClr val="FF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Null hypothesis: The mean trading volume during low-volatility and high-volatility periods are equal.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Alternative hypothesis: The mean trading volumes differ between the two periods.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4.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Hypothesis Testing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6463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T-test</a:t>
            </a:r>
            <a:endParaRPr lang="en-US" sz="35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The dataset was divided into two groups based on the median of VIXY: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Low-volatility period: VIXY &lt; median(VIXY)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High-volatility period: VIXY ≥ median(VIXY)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Answer: 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There is a statistically significant difference in trading volume between low- and high-volatility periods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aphicFrame>
        <p:nvGraphicFramePr>
          <p:cNvPr id="10" name="Table 9"/>
          <p:cNvGraphicFramePr/>
          <p:nvPr/>
        </p:nvGraphicFramePr>
        <p:xfrm>
          <a:off x="10744200" y="4000500"/>
          <a:ext cx="4925695" cy="23475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860"/>
                <a:gridCol w="2362835"/>
              </a:tblGrid>
              <a:tr h="71755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Statistics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852805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t-staitstics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2.325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p-value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0.02012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4.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Hypothesis Testing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7271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ANOVA test</a:t>
            </a:r>
            <a:endParaRPr lang="en-US" sz="35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Is there a significant difference in the S&amp;P 500 closing price (Close) among different economic periods?</a:t>
            </a:r>
            <a:endParaRPr lang="en-US" sz="3500">
              <a:solidFill>
                <a:srgbClr val="FF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Null hypothesis: The mean closing prices are the same across all economic periods.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Alternative hypothesis: At least one period has a different mean closing price.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The data was divided into three economic phases: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Before COVID-19: 2011–2019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During COVID-19: 2020–2021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After COVID-19: 2022–2023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4.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Hypothesis Testing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5655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ANOVA test</a:t>
            </a:r>
            <a:endParaRPr lang="en-US" sz="35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3500" b="1">
              <a:solidFill>
                <a:srgbClr val="FF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3500" b="1">
              <a:solidFill>
                <a:srgbClr val="FF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Answer: </a:t>
            </a: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Therefore, there are significant differences in the mean closing price among three economic periods.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aphicFrame>
        <p:nvGraphicFramePr>
          <p:cNvPr id="5" name="Table 4"/>
          <p:cNvGraphicFramePr/>
          <p:nvPr/>
        </p:nvGraphicFramePr>
        <p:xfrm>
          <a:off x="1524000" y="3162300"/>
          <a:ext cx="4925695" cy="23475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860"/>
                <a:gridCol w="2362835"/>
              </a:tblGrid>
              <a:tr h="71755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Statistics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852805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f-staitstics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2.325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p-value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0.02012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5.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Correlation Analysis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238375"/>
            <a:ext cx="8073342" cy="6858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238375"/>
            <a:ext cx="8073594" cy="6858000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3830003" y="9029700"/>
            <a:ext cx="1936750" cy="89916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Pearson</a:t>
            </a:r>
            <a:endParaRPr lang="en-US" sz="3500" b="1"/>
          </a:p>
        </p:txBody>
      </p:sp>
      <p:sp>
        <p:nvSpPr>
          <p:cNvPr id="12" name="Text Box 11"/>
          <p:cNvSpPr txBox="1"/>
          <p:nvPr/>
        </p:nvSpPr>
        <p:spPr>
          <a:xfrm>
            <a:off x="12243118" y="9029700"/>
            <a:ext cx="2331720" cy="89916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Spearman</a:t>
            </a:r>
            <a:endParaRPr lang="en-US" sz="3500" b="1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6.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Multiple Linear Regression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4847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Model Implementation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Target (y): Close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Predictors (X): Open, High, Low, Volume, CPI, GLD, IEF, USO, UUP, VIXY, Close_lag1, Close_lag2, Close_lag3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The model was trained using Linear Regression with a time-based train-test split (80%-20%).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1485" y="671810"/>
            <a:ext cx="17108200" cy="615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6. </a:t>
            </a:r>
            <a:r>
              <a:rPr lang="en-US" sz="40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Multiple Linear Regression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3" name="TextBox 5"/>
          <p:cNvSpPr txBox="1"/>
          <p:nvPr/>
        </p:nvSpPr>
        <p:spPr>
          <a:xfrm>
            <a:off x="625087" y="1887855"/>
            <a:ext cx="17037825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p>
            <a:pPr indent="0" algn="just">
              <a:lnSpc>
                <a:spcPct val="150000"/>
              </a:lnSpc>
              <a:buNone/>
            </a:pPr>
            <a:r>
              <a:rPr lang="en-US" sz="35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Model Evaluation</a:t>
            </a:r>
            <a:endParaRPr lang="en-US" sz="35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aphicFrame>
        <p:nvGraphicFramePr>
          <p:cNvPr id="10" name="Table 9"/>
          <p:cNvGraphicFramePr/>
          <p:nvPr/>
        </p:nvGraphicFramePr>
        <p:xfrm>
          <a:off x="1308735" y="4533900"/>
          <a:ext cx="4925695" cy="23348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860"/>
                <a:gridCol w="2362835"/>
              </a:tblGrid>
              <a:tr h="70485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Metric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852805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R^2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0.9962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RMSE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3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16.9717</a:t>
                      </a:r>
                      <a:endParaRPr lang="en-US" sz="300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0400" y="2095500"/>
            <a:ext cx="9829800" cy="76377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0" y="1439580"/>
            <a:ext cx="18288000" cy="305400"/>
            <a:chOff x="0" y="0"/>
            <a:chExt cx="24384000" cy="40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07162"/>
            </a:xfrm>
            <a:custGeom>
              <a:avLst/>
              <a:gdLst/>
              <a:ahLst/>
              <a:cxnLst/>
              <a:rect l="l" t="t" r="r" b="b"/>
              <a:pathLst>
                <a:path w="24384000" h="407162">
                  <a:moveTo>
                    <a:pt x="0" y="0"/>
                  </a:moveTo>
                  <a:lnTo>
                    <a:pt x="24384000" y="0"/>
                  </a:lnTo>
                  <a:lnTo>
                    <a:pt x="24384000" y="407162"/>
                  </a:lnTo>
                  <a:lnTo>
                    <a:pt x="0" y="407162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572755" y="669270"/>
            <a:ext cx="17108200" cy="722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References</a:t>
            </a:r>
            <a:endParaRPr lang="en-US" sz="4000" b="1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4645</Words>
  <Application>WPS Presentation</Application>
  <PresentationFormat>On-screen Show (4:3)</PresentationFormat>
  <Paragraphs>248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42" baseType="lpstr">
      <vt:lpstr>Arial</vt:lpstr>
      <vt:lpstr>SimSun</vt:lpstr>
      <vt:lpstr>Wingdings</vt:lpstr>
      <vt:lpstr>Arial</vt:lpstr>
      <vt:lpstr>Arial Bold</vt:lpstr>
      <vt:lpstr>Arial Italics</vt:lpstr>
      <vt:lpstr>Arial Bold Italics</vt:lpstr>
      <vt:lpstr>Microsoft YaHei</vt:lpstr>
      <vt:lpstr>文泉驿微米黑</vt:lpstr>
      <vt:lpstr>Arial Unicode MS</vt:lpstr>
      <vt:lpstr>Calibri</vt:lpstr>
      <vt:lpstr>Trebuchet MS</vt:lpstr>
      <vt:lpstr>Webdings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GANs.pptx</dc:title>
  <dc:creator/>
  <cp:lastModifiedBy>nguyen-quang-huy</cp:lastModifiedBy>
  <cp:revision>9</cp:revision>
  <dcterms:created xsi:type="dcterms:W3CDTF">2025-11-10T16:43:56Z</dcterms:created>
  <dcterms:modified xsi:type="dcterms:W3CDTF">2025-11-10T16:43:56Z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1033-11.1.0.10920</vt:lpwstr>
  </property>
</Properties>
</file>