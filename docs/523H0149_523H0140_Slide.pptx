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6"/>
  </p:handoutMasterIdLst>
  <p:sldIdLst>
    <p:sldId id="273" r:id="rId3"/>
    <p:sldId id="256" r:id="rId5"/>
    <p:sldId id="257" r:id="rId6"/>
    <p:sldId id="259" r:id="rId7"/>
    <p:sldId id="267" r:id="rId8"/>
    <p:sldId id="269" r:id="rId9"/>
    <p:sldId id="270" r:id="rId10"/>
    <p:sldId id="272" r:id="rId11"/>
    <p:sldId id="271" r:id="rId12"/>
    <p:sldId id="274" r:id="rId13"/>
    <p:sldId id="275" r:id="rId14"/>
    <p:sldId id="281" r:id="rId15"/>
    <p:sldId id="276" r:id="rId16"/>
    <p:sldId id="277" r:id="rId17"/>
    <p:sldId id="278" r:id="rId18"/>
    <p:sldId id="279" r:id="rId19"/>
    <p:sldId id="280" r:id="rId20"/>
    <p:sldId id="282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302" r:id="rId33"/>
    <p:sldId id="303" r:id="rId34"/>
    <p:sldId id="304" r:id="rId3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handoutMaster" Target="handoutMasters/handoutMaster1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1">
              <a:rPr lang="en-US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1">
              <a:rPr lang="en-US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hyperlink" Target="https://github.com/VictorNguyenLPN/sp500-data-visualization-and-analytics" TargetMode="External"/><Relationship Id="rId6" Type="http://schemas.openxmlformats.org/officeDocument/2006/relationships/hyperlink" Target="data:image/png;base64,iVBORw0KGgoAAAANSUhEUgAAAfQAAAH0CAYAAADL1t+KAAAQAElEQVR4Aez9X8wVWVb/j+9q0+PESITYDFfERiFRYjR4AUpCpDXhQlGMYhtD4vQA4V9PwpBgRi5mfPAfY+xIUIEGgQ9zwcW0qGHEmJD4m4eQYCAaEieiBvxNT/qKhgRMTzIXHae/vM5DPZznnPqz1669d+1dZ3V6P1W1a+213+u9Vu1VdU6dxSuf6H" TargetMode="External"/><Relationship Id="rId5" Type="http://schemas.openxmlformats.org/officeDocument/2006/relationships/image" Target="../media/image3.png"/><Relationship Id="rId4" Type="http://schemas.openxmlformats.org/officeDocument/2006/relationships/hyperlink" Target="https://drive.google.com/file/d/162bzx6WAxdkg9eNVcXbCQ396FCso7_YE/view?usp=sharing" TargetMode="External"/><Relationship Id="rId3" Type="http://schemas.openxmlformats.org/officeDocument/2006/relationships/image" Target="../media/image2.png"/><Relationship Id="rId2" Type="http://schemas.openxmlformats.org/officeDocument/2006/relationships/hyperlink" Target="https://docs.google.com/presentation/d/1FO1asinfNBWEHYWXdAyIK7XZXjE1DXT3/edit?usp=sharing&amp;ouid=103831788798902084283&amp;rtpof=true&amp;sd=true" TargetMode="Externa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 rot="0">
            <a:off x="0" y="1056005"/>
            <a:ext cx="12192000" cy="220345"/>
            <a:chOff x="0" y="0"/>
            <a:chExt cx="24384000" cy="407200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407162"/>
            </a:xfrm>
            <a:custGeom>
              <a:avLst/>
              <a:gdLst/>
              <a:ahLst/>
              <a:cxnLst/>
              <a:rect l="l" t="t" r="r" b="b"/>
              <a:pathLst>
                <a:path w="24384000" h="407162">
                  <a:moveTo>
                    <a:pt x="0" y="0"/>
                  </a:moveTo>
                  <a:lnTo>
                    <a:pt x="24384000" y="0"/>
                  </a:lnTo>
                  <a:lnTo>
                    <a:pt x="24384000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grpSp>
        <p:nvGrpSpPr>
          <p:cNvPr id="3" name="Group 2"/>
          <p:cNvGrpSpPr/>
          <p:nvPr/>
        </p:nvGrpSpPr>
        <p:grpSpPr>
          <a:xfrm>
            <a:off x="337820" y="0"/>
            <a:ext cx="11509375" cy="6858000"/>
            <a:chOff x="532" y="0"/>
            <a:chExt cx="18125" cy="10800"/>
          </a:xfrm>
        </p:grpSpPr>
        <p:cxnSp>
          <p:nvCxnSpPr>
            <p:cNvPr id="10" name="Straight Connector 9"/>
            <p:cNvCxnSpPr/>
            <p:nvPr/>
          </p:nvCxnSpPr>
          <p:spPr>
            <a:xfrm>
              <a:off x="532" y="0"/>
              <a:ext cx="0" cy="10800"/>
            </a:xfrm>
            <a:prstGeom prst="line">
              <a:avLst/>
            </a:prstGeom>
            <a:ln w="28575">
              <a:solidFill>
                <a:srgbClr val="FF000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Straight Connector 1"/>
            <p:cNvCxnSpPr/>
            <p:nvPr/>
          </p:nvCxnSpPr>
          <p:spPr>
            <a:xfrm>
              <a:off x="18657" y="0"/>
              <a:ext cx="0" cy="10800"/>
            </a:xfrm>
            <a:prstGeom prst="line">
              <a:avLst/>
            </a:prstGeom>
            <a:ln w="28575">
              <a:solidFill>
                <a:srgbClr val="FF000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 Box 3"/>
          <p:cNvSpPr txBox="1"/>
          <p:nvPr/>
        </p:nvSpPr>
        <p:spPr>
          <a:xfrm>
            <a:off x="340995" y="41275"/>
            <a:ext cx="115100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200000"/>
              </a:lnSpc>
            </a:pPr>
            <a:r>
              <a:rPr 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null</a:t>
            </a:r>
            <a:endParaRPr lang="en-US" sz="3000" b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en-US" altLang="en-US" b="1" smtClean="0">
                <a:solidFill>
                  <a:schemeClr val="tx1"/>
                </a:solidFill>
              </a:rPr>
            </a:fld>
            <a:endParaRPr lang="en-US" altLang="en-US" b="1" smtClean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b="1" smtClean="0">
                <a:solidFill>
                  <a:schemeClr val="tx1"/>
                </a:solidFill>
              </a:rPr>
            </a:fld>
            <a:endParaRPr lang="zh-CN" altLang="en-US" b="1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 rot="0">
            <a:off x="0" y="6637655"/>
            <a:ext cx="12192000" cy="220345"/>
            <a:chOff x="0" y="0"/>
            <a:chExt cx="24384000" cy="407200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407162"/>
            </a:xfrm>
            <a:custGeom>
              <a:avLst/>
              <a:gdLst/>
              <a:ahLst/>
              <a:cxnLst/>
              <a:rect l="l" t="t" r="r" b="b"/>
              <a:pathLst>
                <a:path w="24384000" h="407162">
                  <a:moveTo>
                    <a:pt x="0" y="0"/>
                  </a:moveTo>
                  <a:lnTo>
                    <a:pt x="24384000" y="0"/>
                  </a:lnTo>
                  <a:lnTo>
                    <a:pt x="24384000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sp>
        <p:nvSpPr>
          <p:cNvPr id="14" name="TextBox 5"/>
          <p:cNvSpPr txBox="1"/>
          <p:nvPr/>
        </p:nvSpPr>
        <p:spPr>
          <a:xfrm>
            <a:off x="337820" y="1650365"/>
            <a:ext cx="11509375" cy="2400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ctr">
              <a:lnSpc>
                <a:spcPts val="6240"/>
              </a:lnSpc>
            </a:pPr>
            <a:r>
              <a:rPr lang="en-US" sz="3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Data Analytics and Visualization</a:t>
            </a:r>
            <a:endParaRPr lang="en-US" sz="30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ctr">
              <a:lnSpc>
                <a:spcPts val="6240"/>
              </a:lnSpc>
            </a:pPr>
            <a:r>
              <a:rPr lang="en-US" sz="4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of </a:t>
            </a:r>
            <a:r>
              <a:rPr lang="en-US" sz="40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SP500 </a:t>
            </a:r>
            <a:r>
              <a:rPr lang="en-US" sz="4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with </a:t>
            </a:r>
            <a:r>
              <a:rPr lang="en-US" sz="40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Macroeconomics</a:t>
            </a:r>
            <a:endParaRPr lang="en-US" sz="4000" b="1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algn="ctr">
              <a:lnSpc>
                <a:spcPts val="6240"/>
              </a:lnSpc>
            </a:pPr>
            <a:r>
              <a:rPr lang="en-US" sz="30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Midterm Essay</a:t>
            </a:r>
            <a:endParaRPr lang="en-US" sz="30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2797810" y="4119245"/>
            <a:ext cx="6596380" cy="1337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>
              <a:lnSpc>
                <a:spcPct val="150000"/>
              </a:lnSpc>
            </a:pPr>
            <a:r>
              <a:rPr lang="en-US" i="1">
                <a:solidFill>
                  <a:srgbClr val="595959"/>
                </a:solidFill>
                <a:latin typeface="Arial Italics"/>
                <a:ea typeface="Arial Italics"/>
                <a:cs typeface="Arial Italics"/>
                <a:sym typeface="Arial Italics"/>
              </a:rPr>
              <a:t>Presented by </a:t>
            </a:r>
            <a:r>
              <a:rPr lang="en-US" b="1" i="1">
                <a:solidFill>
                  <a:srgbClr val="595959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Nguyen Quang Huy</a:t>
            </a:r>
            <a:r>
              <a:rPr lang="en-US" i="1">
                <a:solidFill>
                  <a:srgbClr val="595959"/>
                </a:solidFill>
                <a:latin typeface="Arial Italics"/>
                <a:ea typeface="Arial Italics"/>
                <a:cs typeface="Arial Italics"/>
                <a:sym typeface="Arial Italics"/>
              </a:rPr>
              <a:t> - </a:t>
            </a:r>
            <a:r>
              <a:rPr lang="en-US" b="1" i="1">
                <a:solidFill>
                  <a:srgbClr val="595959"/>
                </a:solidFill>
                <a:latin typeface="Arial Bold Italics"/>
                <a:ea typeface="Arial Bold Italics"/>
                <a:cs typeface="Arial Bold Italics"/>
                <a:sym typeface="Arial Bold Italics"/>
              </a:rPr>
              <a:t>Nguyen Gia Nhat Khanh </a:t>
            </a:r>
            <a:endParaRPr lang="en-US" b="1" i="1">
              <a:solidFill>
                <a:srgbClr val="595959"/>
              </a:solidFill>
              <a:latin typeface="Arial Bold Italics"/>
              <a:ea typeface="Arial Bold Italics"/>
              <a:cs typeface="Arial Bold Italics"/>
              <a:sym typeface="Arial Bold Italics"/>
            </a:endParaRPr>
          </a:p>
          <a:p>
            <a:pPr algn="ctr">
              <a:lnSpc>
                <a:spcPct val="150000"/>
              </a:lnSpc>
            </a:pPr>
            <a:r>
              <a:rPr lang="en-US" i="1">
                <a:solidFill>
                  <a:srgbClr val="595959"/>
                </a:solidFill>
                <a:latin typeface="Arial Italics"/>
                <a:ea typeface="Arial Italics"/>
                <a:cs typeface="Arial Italics"/>
                <a:sym typeface="Arial Italics"/>
              </a:rPr>
              <a:t>Faculty of Information Technology, Ton Duc Thang University  </a:t>
            </a:r>
            <a:endParaRPr lang="en-US" i="1">
              <a:solidFill>
                <a:srgbClr val="595959"/>
              </a:solidFill>
              <a:latin typeface="Arial Italics"/>
              <a:ea typeface="Arial Italics"/>
              <a:cs typeface="Arial Italics"/>
              <a:sym typeface="Arial Italics"/>
            </a:endParaRPr>
          </a:p>
          <a:p>
            <a:pPr algn="ctr">
              <a:lnSpc>
                <a:spcPct val="150000"/>
              </a:lnSpc>
            </a:pPr>
            <a:r>
              <a:rPr lang="en-US" i="1">
                <a:solidFill>
                  <a:srgbClr val="595959"/>
                </a:solidFill>
                <a:latin typeface="Arial Italics"/>
                <a:ea typeface="Arial Italics"/>
                <a:cs typeface="Arial Italics"/>
                <a:sym typeface="Arial Italics"/>
              </a:rPr>
              <a:t>{nguyenquanghuy.st, 523h0149}@student.tdtu.edu.vn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 rot="0">
            <a:off x="0" y="1056005"/>
            <a:ext cx="12192000" cy="220345"/>
            <a:chOff x="0" y="0"/>
            <a:chExt cx="24384000" cy="407200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407162"/>
            </a:xfrm>
            <a:custGeom>
              <a:avLst/>
              <a:gdLst/>
              <a:ahLst/>
              <a:cxnLst/>
              <a:rect l="l" t="t" r="r" b="b"/>
              <a:pathLst>
                <a:path w="24384000" h="407162">
                  <a:moveTo>
                    <a:pt x="0" y="0"/>
                  </a:moveTo>
                  <a:lnTo>
                    <a:pt x="24384000" y="0"/>
                  </a:lnTo>
                  <a:lnTo>
                    <a:pt x="24384000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sp>
        <p:nvSpPr>
          <p:cNvPr id="4" name="Text Box 3"/>
          <p:cNvSpPr txBox="1"/>
          <p:nvPr/>
        </p:nvSpPr>
        <p:spPr>
          <a:xfrm>
            <a:off x="340995" y="272415"/>
            <a:ext cx="1151001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sz="3000" b="1"/>
              <a:t>QR Code</a:t>
            </a:r>
            <a:endParaRPr lang="en-US" sz="3000" b="1"/>
          </a:p>
        </p:txBody>
      </p:sp>
      <p:grpSp>
        <p:nvGrpSpPr>
          <p:cNvPr id="11" name="Group 10"/>
          <p:cNvGrpSpPr/>
          <p:nvPr/>
        </p:nvGrpSpPr>
        <p:grpSpPr>
          <a:xfrm>
            <a:off x="799465" y="2057400"/>
            <a:ext cx="3463290" cy="3085465"/>
            <a:chOff x="1293" y="3810"/>
            <a:chExt cx="5454" cy="4859"/>
          </a:xfrm>
        </p:grpSpPr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860" y="3810"/>
              <a:ext cx="4320" cy="4320"/>
            </a:xfrm>
            <a:prstGeom prst="rect">
              <a:avLst/>
            </a:prstGeom>
          </p:spPr>
        </p:pic>
        <p:sp>
          <p:nvSpPr>
            <p:cNvPr id="5" name="TextBox 5"/>
            <p:cNvSpPr txBox="1"/>
            <p:nvPr/>
          </p:nvSpPr>
          <p:spPr>
            <a:xfrm>
              <a:off x="1293" y="7943"/>
              <a:ext cx="5454" cy="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algn="ctr">
                <a:lnSpc>
                  <a:spcPts val="3600"/>
                </a:lnSpc>
              </a:pPr>
              <a:r>
                <a:rPr lang="en-US" sz="2000" b="1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hlinkClick r:id="rId2" tooltip="https://docs.google.com/presentation/d/1zZgImsjH6p6DlHcs6r1B7Y7PeTsr5m19/edit?usp=drive_link&amp;ouid=111647130161240735330&amp;rtpof=true&amp;sd=true" action="ppaction://hlinkfile"/>
                </a:rPr>
                <a:t>Presentation slide</a:t>
              </a:r>
              <a:endParaRPr lang="en-US" sz="2000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  <a:hlinkClick r:id="rId2" tooltip="https://docs.google.com/presentation/d/1zZgImsjH6p6DlHcs6r1B7Y7PeTsr5m19/edit?usp=drive_link&amp;ouid=111647130161240735330&amp;rtpof=true&amp;sd=true" action="ppaction://hlinkfile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121150" y="2057400"/>
            <a:ext cx="3949700" cy="3070860"/>
            <a:chOff x="9700" y="4350"/>
            <a:chExt cx="6220" cy="4836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50" y="4350"/>
              <a:ext cx="4320" cy="4320"/>
            </a:xfrm>
            <a:prstGeom prst="rect">
              <a:avLst/>
            </a:prstGeom>
          </p:spPr>
        </p:pic>
        <p:sp>
          <p:nvSpPr>
            <p:cNvPr id="6" name="TextBox 8"/>
            <p:cNvSpPr txBox="1"/>
            <p:nvPr/>
          </p:nvSpPr>
          <p:spPr>
            <a:xfrm>
              <a:off x="9700" y="8460"/>
              <a:ext cx="6220" cy="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algn="ctr">
                <a:lnSpc>
                  <a:spcPts val="3600"/>
                </a:lnSpc>
              </a:pPr>
              <a:r>
                <a:rPr lang="en-US" sz="2000" b="1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hlinkClick r:id="rId4" tooltip="https://colab.research.google.com/drive/1Ivpvc8IToTvuqBojlh_Oh1W8E_uR8WSN?authuser=1" action="ppaction://hlinkfile"/>
                </a:rPr>
                <a:t>Implementation</a:t>
              </a:r>
              <a:endParaRPr lang="en-US" sz="2000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  <a:hlinkClick r:id="rId4" tooltip="https://colab.research.google.com/drive/1Ivpvc8IToTvuqBojlh_Oh1W8E_uR8WSN?authuser=1" action="ppaction://hlinkfile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7925435" y="2057400"/>
            <a:ext cx="3463290" cy="3152140"/>
            <a:chOff x="16091" y="3495"/>
            <a:chExt cx="5454" cy="4964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658" y="3495"/>
              <a:ext cx="4320" cy="4320"/>
            </a:xfrm>
            <a:prstGeom prst="rect">
              <a:avLst/>
            </a:prstGeom>
          </p:spPr>
        </p:pic>
        <p:sp>
          <p:nvSpPr>
            <p:cNvPr id="13" name="TextBox 13">
              <a:hlinkClick r:id="rId6" action="ppaction://hlinkfile"/>
            </p:cNvPr>
            <p:cNvSpPr txBox="1"/>
            <p:nvPr/>
          </p:nvSpPr>
          <p:spPr>
            <a:xfrm>
              <a:off x="16091" y="7733"/>
              <a:ext cx="5454" cy="7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 algn="ctr">
                <a:lnSpc>
                  <a:spcPts val="3600"/>
                </a:lnSpc>
              </a:pPr>
              <a:r>
                <a:rPr lang="en-US" sz="2000" b="1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hlinkClick r:id="rId7" tooltip="https://github.com/VictorNguyenLPN/gans-research" action="ppaction://hlinkfile"/>
                </a:rPr>
                <a:t>Github Resources</a:t>
              </a:r>
              <a:endParaRPr lang="en-US" sz="2000" b="1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  <a:hlinkClick r:id="rId7" tooltip="https://github.com/VictorNguyenLPN/gans-research" action="ppaction://hlinkfile"/>
              </a:endParaRPr>
            </a:p>
          </p:txBody>
        </p:sp>
      </p:grp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en-US" altLang="en-US" b="1" smtClean="0">
                <a:solidFill>
                  <a:schemeClr val="tx1"/>
                </a:solidFill>
              </a:rPr>
            </a:fld>
            <a:endParaRPr lang="en-US" altLang="en-US" b="1" smtClean="0">
              <a:solidFill>
                <a:schemeClr val="tx1"/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b="1" smtClean="0">
                <a:solidFill>
                  <a:schemeClr val="tx1"/>
                </a:solidFill>
              </a:rPr>
            </a:fld>
            <a:endParaRPr lang="zh-CN" altLang="en-US" b="1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 rot="0">
            <a:off x="0" y="1056005"/>
            <a:ext cx="12192000" cy="220345"/>
            <a:chOff x="0" y="0"/>
            <a:chExt cx="24384000" cy="407200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407162"/>
            </a:xfrm>
            <a:custGeom>
              <a:avLst/>
              <a:gdLst/>
              <a:ahLst/>
              <a:cxnLst/>
              <a:rect l="l" t="t" r="r" b="b"/>
              <a:pathLst>
                <a:path w="24384000" h="407162">
                  <a:moveTo>
                    <a:pt x="0" y="0"/>
                  </a:moveTo>
                  <a:lnTo>
                    <a:pt x="24384000" y="0"/>
                  </a:lnTo>
                  <a:lnTo>
                    <a:pt x="24384000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sp>
        <p:nvSpPr>
          <p:cNvPr id="4" name="Text Box 3"/>
          <p:cNvSpPr txBox="1"/>
          <p:nvPr/>
        </p:nvSpPr>
        <p:spPr>
          <a:xfrm>
            <a:off x="340995" y="272415"/>
            <a:ext cx="1151001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sz="3000" b="1"/>
              <a:t>Outline</a:t>
            </a:r>
            <a:endParaRPr lang="en-US" sz="3000" b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en-US" altLang="en-US" b="1" smtClean="0">
                <a:solidFill>
                  <a:schemeClr val="tx1"/>
                </a:solidFill>
              </a:rPr>
            </a:fld>
            <a:endParaRPr lang="en-US" altLang="en-US" b="1" smtClean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b="1" smtClean="0">
                <a:solidFill>
                  <a:schemeClr val="tx1"/>
                </a:solidFill>
              </a:rPr>
            </a:fld>
            <a:endParaRPr lang="zh-CN" altLang="en-US" b="1" smtClean="0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45440" y="1276350"/>
            <a:ext cx="11505565" cy="41306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964565" lvl="1" indent="-482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5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Introduction</a:t>
            </a:r>
            <a:endParaRPr lang="en-US" sz="25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964565" lvl="1" indent="-482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5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Exploratory Data Analysis (EDA)</a:t>
            </a:r>
            <a:endParaRPr lang="en-US" sz="25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964565" lvl="1" indent="-482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5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Probability Distribution Analysis</a:t>
            </a:r>
            <a:endParaRPr lang="en-US" sz="25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965200" lvl="1" indent="-482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5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Hypothesis Testing</a:t>
            </a:r>
            <a:endParaRPr lang="en-US" sz="25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965200" lvl="1" indent="-482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5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Correlation Analysis</a:t>
            </a:r>
            <a:endParaRPr lang="en-US" sz="25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964565" lvl="1" indent="-482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5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Multiple Linear Regression</a:t>
            </a:r>
            <a:endParaRPr lang="en-US" sz="25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964565" lvl="1" indent="-482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5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Conclusion</a:t>
            </a:r>
            <a:endParaRPr lang="en-US"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 rot="0">
            <a:off x="0" y="1056005"/>
            <a:ext cx="12192000" cy="220345"/>
            <a:chOff x="0" y="0"/>
            <a:chExt cx="24384000" cy="407200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407162"/>
            </a:xfrm>
            <a:custGeom>
              <a:avLst/>
              <a:gdLst/>
              <a:ahLst/>
              <a:cxnLst/>
              <a:rect l="l" t="t" r="r" b="b"/>
              <a:pathLst>
                <a:path w="24384000" h="407162">
                  <a:moveTo>
                    <a:pt x="0" y="0"/>
                  </a:moveTo>
                  <a:lnTo>
                    <a:pt x="24384000" y="0"/>
                  </a:lnTo>
                  <a:lnTo>
                    <a:pt x="24384000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sp>
        <p:nvSpPr>
          <p:cNvPr id="4" name="Text Box 3"/>
          <p:cNvSpPr txBox="1"/>
          <p:nvPr/>
        </p:nvSpPr>
        <p:spPr>
          <a:xfrm>
            <a:off x="340995" y="272415"/>
            <a:ext cx="1151001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1. Introduction</a:t>
            </a:r>
            <a:endParaRPr lang="en-US" sz="3000" b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en-US" altLang="en-US" b="1" smtClean="0">
                <a:solidFill>
                  <a:schemeClr val="tx1"/>
                </a:solidFill>
              </a:rPr>
            </a:fld>
            <a:endParaRPr lang="en-US" altLang="en-US" b="1" smtClean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b="1" smtClean="0">
                <a:solidFill>
                  <a:schemeClr val="tx1"/>
                </a:solidFill>
              </a:rPr>
            </a:fld>
            <a:endParaRPr lang="zh-CN" altLang="en-US" b="1" smtClean="0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45440" y="1276350"/>
            <a:ext cx="11505565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67665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Objective</a:t>
            </a:r>
            <a:r>
              <a:rPr lang="en-US" sz="25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 Analyze the dataset</a:t>
            </a:r>
            <a:r>
              <a:rPr lang="vi-VN" altLang="en-US" sz="25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 </a:t>
            </a:r>
            <a:r>
              <a:rPr lang="en-US" sz="25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EDA → distribution checks → hypothesis testing → correlation analysis → multiple linear regression</a:t>
            </a:r>
            <a:r>
              <a:rPr lang="vi-VN" altLang="en-US" sz="25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endParaRPr lang="vi-VN" alt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67665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altLang="en-US" sz="25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Time</a:t>
            </a:r>
            <a:r>
              <a:rPr lang="en-US" altLang="vi-VN" sz="25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-series d</a:t>
            </a:r>
            <a:r>
              <a:rPr lang="en-US" sz="25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ataset</a:t>
            </a:r>
            <a:r>
              <a:rPr lang="en-US" sz="25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</a:t>
            </a: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824865" lvl="1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Daily S&amp;P 500 Index (close, open, high, low, volume) - Yahoo Finance</a:t>
            </a:r>
            <a:r>
              <a:rPr lang="vi-VN" altLang="en-US" sz="25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endParaRPr lang="vi-VN" alt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824865" lvl="1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Daily Macroeconomics, asset proxies (CPI, GLD, IEF, VIXY, UUP, USO) - Alpha Vantage.</a:t>
            </a: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824865" lvl="1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Time range: Jan 4, 2011 to Dec12, 2023.</a:t>
            </a: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67665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Research question:</a:t>
            </a:r>
            <a:endParaRPr lang="en-US" sz="25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 rot="0">
            <a:off x="0" y="1056005"/>
            <a:ext cx="12192000" cy="220345"/>
            <a:chOff x="0" y="0"/>
            <a:chExt cx="24384000" cy="407200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407162"/>
            </a:xfrm>
            <a:custGeom>
              <a:avLst/>
              <a:gdLst/>
              <a:ahLst/>
              <a:cxnLst/>
              <a:rect l="l" t="t" r="r" b="b"/>
              <a:pathLst>
                <a:path w="24384000" h="407162">
                  <a:moveTo>
                    <a:pt x="0" y="0"/>
                  </a:moveTo>
                  <a:lnTo>
                    <a:pt x="24384000" y="0"/>
                  </a:lnTo>
                  <a:lnTo>
                    <a:pt x="24384000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sp>
        <p:nvSpPr>
          <p:cNvPr id="4" name="Text Box 3"/>
          <p:cNvSpPr txBox="1"/>
          <p:nvPr/>
        </p:nvSpPr>
        <p:spPr>
          <a:xfrm>
            <a:off x="340995" y="272415"/>
            <a:ext cx="1151001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Exploratory Data Analysis (EDA)</a:t>
            </a:r>
            <a:endParaRPr lang="en-US" sz="3000" b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en-US" altLang="en-US" b="1" smtClean="0">
                <a:solidFill>
                  <a:schemeClr val="tx1"/>
                </a:solidFill>
              </a:rPr>
            </a:fld>
            <a:endParaRPr lang="en-US" altLang="en-US" b="1" smtClean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b="1" smtClean="0">
                <a:solidFill>
                  <a:schemeClr val="tx1"/>
                </a:solidFill>
              </a:rPr>
            </a:fld>
            <a:endParaRPr lang="zh-CN" altLang="en-US" b="1" smtClean="0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45440" y="1276350"/>
            <a:ext cx="11505565" cy="1822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4765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5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Daily SP500 Index</a:t>
            </a:r>
            <a:endParaRPr lang="en-US" sz="25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67665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24367 entries, 1927-12-30 to 2024-12-31.</a:t>
            </a: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81965" lvl="1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13" name="Table 12"/>
          <p:cNvGraphicFramePr/>
          <p:nvPr/>
        </p:nvGraphicFramePr>
        <p:xfrm>
          <a:off x="722630" y="2703195"/>
          <a:ext cx="11078210" cy="2148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180"/>
                <a:gridCol w="1827530"/>
                <a:gridCol w="1881505"/>
                <a:gridCol w="1818005"/>
                <a:gridCol w="1855470"/>
                <a:gridCol w="2128520"/>
              </a:tblGrid>
              <a:tr h="508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Open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Low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Close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Volume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772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2024-12-24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5984.629883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6040.100098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5981.439941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6040.040039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1757720000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772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2024-12-26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6024.970215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6049.750000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6007.370117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6037.589844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2904530000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857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2024-12-27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6006.169922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6006.169922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5932.950195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5970.839844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3159610000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 rot="0">
            <a:off x="0" y="1056005"/>
            <a:ext cx="12192000" cy="220345"/>
            <a:chOff x="0" y="0"/>
            <a:chExt cx="24384000" cy="407200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407162"/>
            </a:xfrm>
            <a:custGeom>
              <a:avLst/>
              <a:gdLst/>
              <a:ahLst/>
              <a:cxnLst/>
              <a:rect l="l" t="t" r="r" b="b"/>
              <a:pathLst>
                <a:path w="24384000" h="407162">
                  <a:moveTo>
                    <a:pt x="0" y="0"/>
                  </a:moveTo>
                  <a:lnTo>
                    <a:pt x="24384000" y="0"/>
                  </a:lnTo>
                  <a:lnTo>
                    <a:pt x="24384000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en-US" altLang="en-US" b="1" smtClean="0">
                <a:solidFill>
                  <a:schemeClr val="tx1"/>
                </a:solidFill>
              </a:rPr>
            </a:fld>
            <a:endParaRPr lang="en-US" altLang="en-US" b="1" smtClean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b="1" smtClean="0">
                <a:solidFill>
                  <a:schemeClr val="tx1"/>
                </a:solidFill>
              </a:rPr>
            </a:fld>
            <a:endParaRPr lang="zh-CN" altLang="en-US" b="1" smtClean="0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45440" y="1276350"/>
            <a:ext cx="11505565" cy="66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67665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Daily Macroeconomics Index &amp; Asset Proxies</a:t>
            </a: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13" name="Table 12"/>
          <p:cNvGraphicFramePr/>
          <p:nvPr/>
        </p:nvGraphicFramePr>
        <p:xfrm>
          <a:off x="716280" y="2007870"/>
          <a:ext cx="11130915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7475"/>
                <a:gridCol w="5933440"/>
              </a:tblGrid>
              <a:tr h="508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Proxies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772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Consumer Price Index (</a:t>
                      </a:r>
                      <a:r>
                        <a:rPr lang="en-US" b="1"/>
                        <a:t>CPI</a:t>
                      </a:r>
                      <a:r>
                        <a:rPr lang="en-US"/>
                        <a:t>)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Measures inflation by tracking changes in consumer prices for goods and services.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772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SPDR Gold Shares (</a:t>
                      </a:r>
                      <a:r>
                        <a:rPr lang="en-US" b="1"/>
                        <a:t>GLD</a:t>
                      </a:r>
                      <a:r>
                        <a:rPr lang="en-US"/>
                        <a:t>)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Represents the price of gold through the SPDR Gold Shares ETF.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857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iShares 7–10 Year Treasury Bond (</a:t>
                      </a:r>
                      <a:r>
                        <a:rPr lang="en-US" b="1">
                          <a:solidFill>
                            <a:srgbClr val="FF0000"/>
                          </a:solidFill>
                        </a:rPr>
                        <a:t>IEF</a:t>
                      </a:r>
                      <a:r>
                        <a:rPr lang="en-US"/>
                        <a:t>)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Tracks U.S. Treasury bonds with 7–10-year maturities, reflecting long-term interest rates.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857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United States Oil Fund (</a:t>
                      </a:r>
                      <a:r>
                        <a:rPr lang="en-US" b="1"/>
                        <a:t>USO</a:t>
                      </a:r>
                      <a:r>
                        <a:rPr lang="en-US"/>
                        <a:t>)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Follows crude oil prices via the United States Oil Fund ETF.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857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Invesco DB U.S. Dollar Index Bullish Fund (</a:t>
                      </a:r>
                      <a:r>
                        <a:rPr lang="en-US" b="1"/>
                        <a:t>UUP</a:t>
                      </a:r>
                      <a:r>
                        <a:rPr lang="en-US"/>
                        <a:t>)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Reflects the strength of the U.S. dollar against major currencies through the Dollar Index ETF.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857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ProShares VIX Short-Term Futures (</a:t>
                      </a:r>
                      <a:r>
                        <a:rPr lang="en-US" b="1">
                          <a:solidFill>
                            <a:srgbClr val="FF0000"/>
                          </a:solidFill>
                        </a:rPr>
                        <a:t>VIXY</a:t>
                      </a:r>
                      <a:r>
                        <a:rPr lang="en-US"/>
                        <a:t>)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Represents market volatility based on short-term VIX futures, often called the “fear index.”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" name="Text Box 1"/>
          <p:cNvSpPr txBox="1"/>
          <p:nvPr/>
        </p:nvSpPr>
        <p:spPr>
          <a:xfrm>
            <a:off x="340995" y="272415"/>
            <a:ext cx="1151001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Exploratory Data Analysis (EDA)</a:t>
            </a:r>
            <a:endParaRPr lang="en-US" sz="30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 rot="0">
            <a:off x="0" y="1056005"/>
            <a:ext cx="12192000" cy="220345"/>
            <a:chOff x="0" y="0"/>
            <a:chExt cx="24384000" cy="407200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407162"/>
            </a:xfrm>
            <a:custGeom>
              <a:avLst/>
              <a:gdLst/>
              <a:ahLst/>
              <a:cxnLst/>
              <a:rect l="l" t="t" r="r" b="b"/>
              <a:pathLst>
                <a:path w="24384000" h="407162">
                  <a:moveTo>
                    <a:pt x="0" y="0"/>
                  </a:moveTo>
                  <a:lnTo>
                    <a:pt x="24384000" y="0"/>
                  </a:lnTo>
                  <a:lnTo>
                    <a:pt x="24384000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en-US" altLang="en-US" b="1" smtClean="0">
                <a:solidFill>
                  <a:schemeClr val="tx1"/>
                </a:solidFill>
              </a:rPr>
            </a:fld>
            <a:endParaRPr lang="en-US" altLang="en-US" b="1" smtClean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b="1" smtClean="0">
                <a:solidFill>
                  <a:schemeClr val="tx1"/>
                </a:solidFill>
              </a:rPr>
            </a:fld>
            <a:endParaRPr lang="zh-CN" altLang="en-US" b="1" smtClean="0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45440" y="1276350"/>
            <a:ext cx="11505565" cy="1822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4765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5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Daily Macroeconomics Index &amp; Asset Proxies</a:t>
            </a:r>
            <a:endParaRPr lang="en-US" sz="25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67665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6000 entries, 2000-24-30 to 2024-12-31.</a:t>
            </a: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81965" lvl="1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722630" y="2703195"/>
          <a:ext cx="11078210" cy="2148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180"/>
                <a:gridCol w="1827530"/>
                <a:gridCol w="1881505"/>
                <a:gridCol w="1818005"/>
                <a:gridCol w="1855470"/>
                <a:gridCol w="2128520"/>
              </a:tblGrid>
              <a:tr h="508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Open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High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Low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Close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Volume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772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2024-12-24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5984.629883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6040.100098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5981.439941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6040.040039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1757720000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5772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2024-12-26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6024.970215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6049.750000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6007.370117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6037.589844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2904530000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857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2024-12-27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6006.169922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6006.169922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5932.950195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5970.839844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3159610000</a:t>
                      </a:r>
                      <a:endParaRPr 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340995" y="272415"/>
            <a:ext cx="1151001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Exploratory Data Analysis (EDA)</a:t>
            </a:r>
            <a:endParaRPr lang="en-US" sz="30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 rot="0">
            <a:off x="0" y="1056005"/>
            <a:ext cx="12192000" cy="220345"/>
            <a:chOff x="0" y="0"/>
            <a:chExt cx="24384000" cy="407200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407162"/>
            </a:xfrm>
            <a:custGeom>
              <a:avLst/>
              <a:gdLst/>
              <a:ahLst/>
              <a:cxnLst/>
              <a:rect l="l" t="t" r="r" b="b"/>
              <a:pathLst>
                <a:path w="24384000" h="407162">
                  <a:moveTo>
                    <a:pt x="0" y="0"/>
                  </a:moveTo>
                  <a:lnTo>
                    <a:pt x="24384000" y="0"/>
                  </a:lnTo>
                  <a:lnTo>
                    <a:pt x="24384000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en-US" altLang="en-US" b="1" smtClean="0">
                <a:solidFill>
                  <a:schemeClr val="tx1"/>
                </a:solidFill>
              </a:rPr>
            </a:fld>
            <a:endParaRPr lang="en-US" altLang="en-US" b="1" smtClean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b="1" smtClean="0">
                <a:solidFill>
                  <a:schemeClr val="tx1"/>
                </a:solidFill>
              </a:rPr>
            </a:fld>
            <a:endParaRPr lang="zh-CN" altLang="en-US" b="1" smtClean="0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45440" y="1276350"/>
            <a:ext cx="11505565" cy="3553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4765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5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Dataset Merging</a:t>
            </a:r>
            <a:endParaRPr lang="en-US" sz="25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91050" lvl="8" indent="-34226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24367 entries, 11 features.</a:t>
            </a:r>
            <a:endParaRPr lang="en-US" sz="25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91050" lvl="8" indent="-34226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Duplicate rows: 3856.</a:t>
            </a: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91050" lvl="8" indent="-34226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Zero value: 5497 (Volume).</a:t>
            </a: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91050" lvl="8" indent="-34226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Null value: </a:t>
            </a: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248785" lvl="8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796290" y="2553335"/>
            <a:ext cx="3486785" cy="2526030"/>
            <a:chOff x="1704" y="3608"/>
            <a:chExt cx="5491" cy="3978"/>
          </a:xfrm>
        </p:grpSpPr>
        <p:sp>
          <p:nvSpPr>
            <p:cNvPr id="12" name="Oval 11"/>
            <p:cNvSpPr/>
            <p:nvPr/>
          </p:nvSpPr>
          <p:spPr>
            <a:xfrm>
              <a:off x="3217" y="3608"/>
              <a:ext cx="3978" cy="3978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2020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1500" b="1">
                  <a:solidFill>
                    <a:schemeClr val="tx1"/>
                  </a:solidFill>
                </a:rPr>
                <a:t>Macroeconomics &amp; Asset Proxies</a:t>
              </a:r>
              <a:endParaRPr lang="en-US" sz="1500" b="1">
                <a:solidFill>
                  <a:schemeClr val="tx1"/>
                </a:solidFill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704" y="4672"/>
              <a:ext cx="1851" cy="1851"/>
            </a:xfrm>
            <a:prstGeom prst="ellipse">
              <a:avLst/>
            </a:prstGeom>
            <a:solidFill>
              <a:schemeClr val="accent5">
                <a:lumMod val="40000"/>
                <a:lumOff val="60000"/>
                <a:alpha val="70000"/>
              </a:schemeClr>
            </a:solidFill>
            <a:ln>
              <a:solidFill>
                <a:srgbClr val="2020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1500" b="1">
                  <a:solidFill>
                    <a:schemeClr val="tx1"/>
                  </a:solidFill>
                </a:rPr>
                <a:t>SP500</a:t>
              </a:r>
              <a:endParaRPr lang="en-US" sz="1500" b="1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25" name="Table 24"/>
          <p:cNvGraphicFramePr/>
          <p:nvPr/>
        </p:nvGraphicFramePr>
        <p:xfrm>
          <a:off x="4925695" y="4291965"/>
          <a:ext cx="56896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2350"/>
                <a:gridCol w="3397250"/>
              </a:tblGrid>
              <a:tr h="4724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500" b="1">
                          <a:solidFill>
                            <a:schemeClr val="tx1"/>
                          </a:solidFill>
                        </a:rPr>
                        <a:t>CPI</a:t>
                      </a:r>
                      <a:r>
                        <a:rPr lang="en-US" sz="2500" b="0">
                          <a:solidFill>
                            <a:schemeClr val="tx1"/>
                          </a:solidFill>
                        </a:rPr>
                        <a:t>: 20811</a:t>
                      </a:r>
                      <a:endParaRPr lang="en-US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500" b="1">
                          <a:solidFill>
                            <a:schemeClr val="tx1"/>
                          </a:solidFill>
                        </a:rPr>
                        <a:t>USO</a:t>
                      </a:r>
                      <a:r>
                        <a:rPr lang="en-US" sz="2500" b="0">
                          <a:solidFill>
                            <a:schemeClr val="tx1"/>
                          </a:solidFill>
                        </a:rPr>
                        <a:t>: 19653</a:t>
                      </a:r>
                      <a:endParaRPr lang="en-US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500" b="1">
                          <a:solidFill>
                            <a:schemeClr val="tx1"/>
                          </a:solidFill>
                        </a:rPr>
                        <a:t>GLD</a:t>
                      </a:r>
                      <a:r>
                        <a:rPr lang="en-US" sz="2500" b="0">
                          <a:solidFill>
                            <a:schemeClr val="tx1"/>
                          </a:solidFill>
                        </a:rPr>
                        <a:t>: 19304</a:t>
                      </a:r>
                      <a:endParaRPr lang="en-US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500" b="1">
                          <a:solidFill>
                            <a:schemeClr val="tx1"/>
                          </a:solidFill>
                        </a:rPr>
                        <a:t>UUP</a:t>
                      </a:r>
                      <a:r>
                        <a:rPr lang="en-US" sz="2500" b="0">
                          <a:solidFill>
                            <a:schemeClr val="tx1"/>
                          </a:solidFill>
                        </a:rPr>
                        <a:t>: 19876</a:t>
                      </a:r>
                      <a:endParaRPr lang="en-US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500" b="1">
                          <a:solidFill>
                            <a:schemeClr val="tx1"/>
                          </a:solidFill>
                        </a:rPr>
                        <a:t>IEF</a:t>
                      </a:r>
                      <a:r>
                        <a:rPr lang="en-US" sz="2500" b="0">
                          <a:solidFill>
                            <a:schemeClr val="tx1"/>
                          </a:solidFill>
                        </a:rPr>
                        <a:t>: 18720</a:t>
                      </a:r>
                      <a:endParaRPr lang="en-US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500" b="1">
                          <a:solidFill>
                            <a:schemeClr val="tx1"/>
                          </a:solidFill>
                        </a:rPr>
                        <a:t>VIXY</a:t>
                      </a:r>
                      <a:r>
                        <a:rPr lang="en-US" sz="2500" b="0">
                          <a:solidFill>
                            <a:schemeClr val="tx1"/>
                          </a:solidFill>
                        </a:rPr>
                        <a:t>: 20846</a:t>
                      </a:r>
                      <a:endParaRPr lang="en-US" sz="25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" name="Text Box 1"/>
          <p:cNvSpPr txBox="1"/>
          <p:nvPr/>
        </p:nvSpPr>
        <p:spPr>
          <a:xfrm>
            <a:off x="340995" y="272415"/>
            <a:ext cx="1151001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Exploratory Data Analysis (EDA)</a:t>
            </a:r>
            <a:endParaRPr lang="en-US" sz="3000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 rot="0">
            <a:off x="0" y="1056005"/>
            <a:ext cx="12192000" cy="220345"/>
            <a:chOff x="0" y="0"/>
            <a:chExt cx="24384000" cy="407200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407162"/>
            </a:xfrm>
            <a:custGeom>
              <a:avLst/>
              <a:gdLst/>
              <a:ahLst/>
              <a:cxnLst/>
              <a:rect l="l" t="t" r="r" b="b"/>
              <a:pathLst>
                <a:path w="24384000" h="407162">
                  <a:moveTo>
                    <a:pt x="0" y="0"/>
                  </a:moveTo>
                  <a:lnTo>
                    <a:pt x="24384000" y="0"/>
                  </a:lnTo>
                  <a:lnTo>
                    <a:pt x="24384000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en-US" altLang="en-US" b="1" smtClean="0">
                <a:solidFill>
                  <a:schemeClr val="tx1"/>
                </a:solidFill>
              </a:rPr>
            </a:fld>
            <a:endParaRPr lang="en-US" altLang="en-US" b="1" smtClean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b="1" smtClean="0">
                <a:solidFill>
                  <a:schemeClr val="tx1"/>
                </a:solidFill>
              </a:rPr>
            </a:fld>
            <a:endParaRPr lang="zh-CN" altLang="en-US" b="1" smtClean="0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45440" y="1276350"/>
            <a:ext cx="11505565" cy="5285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4765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5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Data Preprocessing</a:t>
            </a:r>
            <a:endParaRPr lang="en-US" sz="25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67665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67665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67665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8615" lvl="0" indent="-34861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3257 entries, 11 features.</a:t>
            </a:r>
            <a:endParaRPr lang="en-US" sz="250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8615" lvl="0" indent="-34861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Duplicate rows: 0.</a:t>
            </a: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8615" lvl="0" indent="-34861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Zero value: 0.</a:t>
            </a: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8615" lvl="0" indent="-34861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50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Null value: 0.</a:t>
            </a: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67665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1295400" y="2297430"/>
            <a:ext cx="9601200" cy="1487170"/>
            <a:chOff x="1189" y="3634"/>
            <a:chExt cx="15120" cy="2342"/>
          </a:xfrm>
        </p:grpSpPr>
        <p:grpSp>
          <p:nvGrpSpPr>
            <p:cNvPr id="27" name="Group 26"/>
            <p:cNvGrpSpPr/>
            <p:nvPr/>
          </p:nvGrpSpPr>
          <p:grpSpPr>
            <a:xfrm>
              <a:off x="1189" y="4456"/>
              <a:ext cx="15120" cy="720"/>
              <a:chOff x="1189" y="4456"/>
              <a:chExt cx="15120" cy="720"/>
            </a:xfrm>
          </p:grpSpPr>
          <p:sp>
            <p:nvSpPr>
              <p:cNvPr id="13" name="Rectangles 12"/>
              <p:cNvSpPr/>
              <p:nvPr/>
            </p:nvSpPr>
            <p:spPr>
              <a:xfrm>
                <a:off x="1189" y="4456"/>
                <a:ext cx="2160" cy="72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33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01/01/1927</a:t>
                </a:r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tangles 13"/>
              <p:cNvSpPr/>
              <p:nvPr/>
            </p:nvSpPr>
            <p:spPr>
              <a:xfrm>
                <a:off x="3349" y="4456"/>
                <a:ext cx="2160" cy="72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33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02/01/1927</a:t>
                </a:r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ctangles 14"/>
              <p:cNvSpPr/>
              <p:nvPr/>
            </p:nvSpPr>
            <p:spPr>
              <a:xfrm>
                <a:off x="5509" y="4456"/>
                <a:ext cx="2160" cy="72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FF33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01/01/1927</a:t>
                </a:r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s 15"/>
              <p:cNvSpPr/>
              <p:nvPr/>
            </p:nvSpPr>
            <p:spPr>
              <a:xfrm>
                <a:off x="7669" y="4456"/>
                <a:ext cx="2160" cy="72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...</a:t>
                </a:r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s 18"/>
              <p:cNvSpPr/>
              <p:nvPr/>
            </p:nvSpPr>
            <p:spPr>
              <a:xfrm>
                <a:off x="11989" y="4456"/>
                <a:ext cx="2160" cy="72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...</a:t>
                </a:r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Rectangles 19"/>
              <p:cNvSpPr/>
              <p:nvPr/>
            </p:nvSpPr>
            <p:spPr>
              <a:xfrm>
                <a:off x="14149" y="4456"/>
                <a:ext cx="2160" cy="72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2020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01/01/2025</a:t>
                </a:r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Rectangles 16"/>
              <p:cNvSpPr/>
              <p:nvPr/>
            </p:nvSpPr>
            <p:spPr>
              <a:xfrm>
                <a:off x="9829" y="4456"/>
                <a:ext cx="2160" cy="720"/>
              </a:xfrm>
              <a:prstGeom prst="rect">
                <a:avLst/>
              </a:prstGeom>
              <a:solidFill>
                <a:schemeClr val="bg1"/>
              </a:solidFill>
              <a:ln w="38100" cmpd="sng">
                <a:solidFill>
                  <a:srgbClr val="00B05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>
                    <a:solidFill>
                      <a:schemeClr val="tx1"/>
                    </a:solidFill>
                    <a:sym typeface="+mn-ea"/>
                  </a:rPr>
                  <a:t>01/01/2020</a:t>
                </a:r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" name="Text Box 20"/>
            <p:cNvSpPr txBox="1"/>
            <p:nvPr/>
          </p:nvSpPr>
          <p:spPr>
            <a:xfrm>
              <a:off x="1425" y="3634"/>
              <a:ext cx="16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>
                  <a:solidFill>
                    <a:srgbClr val="FF0000"/>
                  </a:solidFill>
                </a:rPr>
                <a:t>Not valid</a:t>
              </a:r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2" name="Text Box 21"/>
            <p:cNvSpPr txBox="1"/>
            <p:nvPr/>
          </p:nvSpPr>
          <p:spPr>
            <a:xfrm>
              <a:off x="3585" y="3634"/>
              <a:ext cx="16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>
                  <a:solidFill>
                    <a:srgbClr val="FF0000"/>
                  </a:solidFill>
                </a:rPr>
                <a:t>Not valid</a:t>
              </a:r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4" name="Text Box 23"/>
            <p:cNvSpPr txBox="1"/>
            <p:nvPr/>
          </p:nvSpPr>
          <p:spPr>
            <a:xfrm>
              <a:off x="5745" y="3634"/>
              <a:ext cx="16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>
                  <a:solidFill>
                    <a:srgbClr val="FF0000"/>
                  </a:solidFill>
                </a:rPr>
                <a:t>Not valid</a:t>
              </a:r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6" name="Text Box 25"/>
            <p:cNvSpPr txBox="1"/>
            <p:nvPr/>
          </p:nvSpPr>
          <p:spPr>
            <a:xfrm>
              <a:off x="10345" y="5396"/>
              <a:ext cx="112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b="1">
                  <a:solidFill>
                    <a:srgbClr val="00B050"/>
                  </a:solidFill>
                </a:rPr>
                <a:t>Valid</a:t>
              </a:r>
              <a:endParaRPr lang="en-US" b="1">
                <a:solidFill>
                  <a:srgbClr val="00B050"/>
                </a:solidFill>
              </a:endParaRPr>
            </a:p>
          </p:txBody>
        </p:sp>
      </p:grpSp>
      <p:sp>
        <p:nvSpPr>
          <p:cNvPr id="30" name="Text Box 29"/>
          <p:cNvSpPr txBox="1"/>
          <p:nvPr/>
        </p:nvSpPr>
        <p:spPr>
          <a:xfrm>
            <a:off x="6600825" y="2133600"/>
            <a:ext cx="34118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000"/>
              <a:t>Crop from the first valid rows</a:t>
            </a:r>
            <a:endParaRPr lang="en-US" sz="2000"/>
          </a:p>
        </p:txBody>
      </p:sp>
      <p:cxnSp>
        <p:nvCxnSpPr>
          <p:cNvPr id="31" name="Elbow Connector 30"/>
          <p:cNvCxnSpPr/>
          <p:nvPr/>
        </p:nvCxnSpPr>
        <p:spPr>
          <a:xfrm>
            <a:off x="6600825" y="2041525"/>
            <a:ext cx="2575560" cy="2012950"/>
          </a:xfrm>
          <a:prstGeom prst="bentConnector3">
            <a:avLst>
              <a:gd name="adj1" fmla="val 24"/>
            </a:avLst>
          </a:prstGeom>
          <a:ln w="3175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Box 1"/>
          <p:cNvSpPr txBox="1"/>
          <p:nvPr/>
        </p:nvSpPr>
        <p:spPr>
          <a:xfrm>
            <a:off x="340995" y="272415"/>
            <a:ext cx="1151001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Exploratory Data Analysis (EDA)</a:t>
            </a:r>
            <a:endParaRPr lang="en-US" sz="30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 rot="0">
            <a:off x="0" y="1056005"/>
            <a:ext cx="12192000" cy="220345"/>
            <a:chOff x="0" y="0"/>
            <a:chExt cx="24384000" cy="407200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407162"/>
            </a:xfrm>
            <a:custGeom>
              <a:avLst/>
              <a:gdLst/>
              <a:ahLst/>
              <a:cxnLst/>
              <a:rect l="l" t="t" r="r" b="b"/>
              <a:pathLst>
                <a:path w="24384000" h="407162">
                  <a:moveTo>
                    <a:pt x="0" y="0"/>
                  </a:moveTo>
                  <a:lnTo>
                    <a:pt x="24384000" y="0"/>
                  </a:lnTo>
                  <a:lnTo>
                    <a:pt x="24384000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sp>
        <p:nvSpPr>
          <p:cNvPr id="7" name="Text Box 6"/>
          <p:cNvSpPr txBox="1"/>
          <p:nvPr/>
        </p:nvSpPr>
        <p:spPr>
          <a:xfrm>
            <a:off x="345440" y="1276350"/>
            <a:ext cx="11505565" cy="1822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4765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5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Visualization (CandleStick) </a:t>
            </a:r>
            <a:r>
              <a:rPr lang="en-US" sz="25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SP500 Index</a:t>
            </a:r>
            <a:endParaRPr lang="en-US" sz="25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67665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4765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8" name="Picture 17" descr="candlestick"/>
          <p:cNvPicPr>
            <a:picLocks noChangeAspect="1"/>
          </p:cNvPicPr>
          <p:nvPr/>
        </p:nvPicPr>
        <p:blipFill>
          <a:blip r:embed="rId1"/>
          <a:srcRect t="9437" r="8830" b="2962"/>
          <a:stretch>
            <a:fillRect/>
          </a:stretch>
        </p:blipFill>
        <p:spPr>
          <a:xfrm>
            <a:off x="1108710" y="2063750"/>
            <a:ext cx="9979025" cy="479425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340995" y="272415"/>
            <a:ext cx="1151001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Exploratory Data Analysis (EDA)</a:t>
            </a:r>
            <a:endParaRPr lang="en-US" sz="3000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 rot="0">
            <a:off x="0" y="1056005"/>
            <a:ext cx="12192000" cy="220345"/>
            <a:chOff x="0" y="0"/>
            <a:chExt cx="24384000" cy="407200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407162"/>
            </a:xfrm>
            <a:custGeom>
              <a:avLst/>
              <a:gdLst/>
              <a:ahLst/>
              <a:cxnLst/>
              <a:rect l="l" t="t" r="r" b="b"/>
              <a:pathLst>
                <a:path w="24384000" h="407162">
                  <a:moveTo>
                    <a:pt x="0" y="0"/>
                  </a:moveTo>
                  <a:lnTo>
                    <a:pt x="24384000" y="0"/>
                  </a:lnTo>
                  <a:lnTo>
                    <a:pt x="24384000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en-US" altLang="en-US" b="1" smtClean="0">
                <a:solidFill>
                  <a:schemeClr val="tx1"/>
                </a:solidFill>
              </a:rPr>
            </a:fld>
            <a:endParaRPr lang="en-US" altLang="en-US" b="1" smtClean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b="1" smtClean="0">
                <a:solidFill>
                  <a:schemeClr val="tx1"/>
                </a:solidFill>
              </a:rPr>
            </a:fld>
            <a:endParaRPr lang="zh-CN" altLang="en-US" b="1" smtClean="0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45440" y="1276350"/>
            <a:ext cx="11505565" cy="1822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4765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5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Visualization (Boxplot) </a:t>
            </a:r>
            <a:r>
              <a:rPr lang="en-US" sz="25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Close Index</a:t>
            </a:r>
            <a:endParaRPr lang="en-US" sz="25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67665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4765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135" y="2167890"/>
            <a:ext cx="10527665" cy="307657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340995" y="272415"/>
            <a:ext cx="1151001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Exploratory Data Analysis (EDA)</a:t>
            </a:r>
            <a:endParaRPr lang="en-US" sz="3000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 rot="0">
            <a:off x="0" y="1056005"/>
            <a:ext cx="12192000" cy="220345"/>
            <a:chOff x="0" y="0"/>
            <a:chExt cx="24384000" cy="407200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407162"/>
            </a:xfrm>
            <a:custGeom>
              <a:avLst/>
              <a:gdLst/>
              <a:ahLst/>
              <a:cxnLst/>
              <a:rect l="l" t="t" r="r" b="b"/>
              <a:pathLst>
                <a:path w="24384000" h="407162">
                  <a:moveTo>
                    <a:pt x="0" y="0"/>
                  </a:moveTo>
                  <a:lnTo>
                    <a:pt x="24384000" y="0"/>
                  </a:lnTo>
                  <a:lnTo>
                    <a:pt x="24384000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en-US" altLang="en-US" b="1" smtClean="0">
                <a:solidFill>
                  <a:schemeClr val="tx1"/>
                </a:solidFill>
              </a:rPr>
            </a:fld>
            <a:endParaRPr lang="en-US" altLang="en-US" b="1" smtClean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b="1" smtClean="0">
                <a:solidFill>
                  <a:schemeClr val="tx1"/>
                </a:solidFill>
              </a:rPr>
            </a:fld>
            <a:endParaRPr lang="zh-CN" altLang="en-US" b="1" smtClean="0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45440" y="1276350"/>
            <a:ext cx="11505565" cy="1822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4765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5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Visualization (Boxplot) </a:t>
            </a:r>
            <a:r>
              <a:rPr lang="en-US" sz="25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Trading Volume</a:t>
            </a:r>
            <a:endParaRPr lang="en-US" sz="25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67665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4765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170430"/>
            <a:ext cx="10514143" cy="3072384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340995" y="272415"/>
            <a:ext cx="1151001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Exploratory Data Analysis (EDA)</a:t>
            </a:r>
            <a:endParaRPr lang="en-US" sz="30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 rot="0">
            <a:off x="0" y="1056005"/>
            <a:ext cx="12192000" cy="220345"/>
            <a:chOff x="0" y="0"/>
            <a:chExt cx="24384000" cy="407200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407162"/>
            </a:xfrm>
            <a:custGeom>
              <a:avLst/>
              <a:gdLst/>
              <a:ahLst/>
              <a:cxnLst/>
              <a:rect l="l" t="t" r="r" b="b"/>
              <a:pathLst>
                <a:path w="24384000" h="407162">
                  <a:moveTo>
                    <a:pt x="0" y="0"/>
                  </a:moveTo>
                  <a:lnTo>
                    <a:pt x="24384000" y="0"/>
                  </a:lnTo>
                  <a:lnTo>
                    <a:pt x="24384000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en-US" altLang="en-US" b="1" smtClean="0">
                <a:solidFill>
                  <a:schemeClr val="tx1"/>
                </a:solidFill>
              </a:rPr>
            </a:fld>
            <a:endParaRPr lang="en-US" altLang="en-US" b="1" smtClean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b="1" smtClean="0">
                <a:solidFill>
                  <a:schemeClr val="tx1"/>
                </a:solidFill>
              </a:rPr>
            </a:fld>
            <a:endParaRPr lang="zh-CN" altLang="en-US" b="1" smtClean="0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45440" y="1276350"/>
            <a:ext cx="11505565" cy="1822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4765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5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Visualization (Boxplot) </a:t>
            </a:r>
            <a:r>
              <a:rPr lang="en-US" sz="25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Macroeconomics</a:t>
            </a:r>
            <a:endParaRPr lang="en-US" sz="25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67665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4765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rcRect b="49930"/>
          <a:stretch>
            <a:fillRect/>
          </a:stretch>
        </p:blipFill>
        <p:spPr>
          <a:xfrm>
            <a:off x="2257425" y="1880235"/>
            <a:ext cx="7677150" cy="462153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340995" y="272415"/>
            <a:ext cx="1151001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Exploratory Data Analysis (EDA)</a:t>
            </a:r>
            <a:endParaRPr lang="en-US" sz="3000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 rot="0">
            <a:off x="0" y="1056005"/>
            <a:ext cx="12192000" cy="220345"/>
            <a:chOff x="0" y="0"/>
            <a:chExt cx="24384000" cy="407200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407162"/>
            </a:xfrm>
            <a:custGeom>
              <a:avLst/>
              <a:gdLst/>
              <a:ahLst/>
              <a:cxnLst/>
              <a:rect l="l" t="t" r="r" b="b"/>
              <a:pathLst>
                <a:path w="24384000" h="407162">
                  <a:moveTo>
                    <a:pt x="0" y="0"/>
                  </a:moveTo>
                  <a:lnTo>
                    <a:pt x="24384000" y="0"/>
                  </a:lnTo>
                  <a:lnTo>
                    <a:pt x="24384000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en-US" altLang="en-US" b="1" smtClean="0">
                <a:solidFill>
                  <a:schemeClr val="tx1"/>
                </a:solidFill>
              </a:rPr>
            </a:fld>
            <a:endParaRPr lang="en-US" altLang="en-US" b="1" smtClean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b="1" smtClean="0">
                <a:solidFill>
                  <a:schemeClr val="tx1"/>
                </a:solidFill>
              </a:rPr>
            </a:fld>
            <a:endParaRPr lang="zh-CN" altLang="en-US" b="1" smtClean="0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45440" y="1276350"/>
            <a:ext cx="11505565" cy="1822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4765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5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Visualization (Boxplot) </a:t>
            </a:r>
            <a:r>
              <a:rPr lang="en-US" sz="25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Macroeconomics</a:t>
            </a:r>
            <a:endParaRPr lang="en-US" sz="25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67665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4765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rcRect t="50008"/>
          <a:stretch>
            <a:fillRect/>
          </a:stretch>
        </p:blipFill>
        <p:spPr>
          <a:xfrm>
            <a:off x="2256790" y="2051685"/>
            <a:ext cx="7683253" cy="461772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340995" y="272415"/>
            <a:ext cx="1151001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Exploratory Data Analysis (EDA)</a:t>
            </a:r>
            <a:endParaRPr lang="en-US" sz="3000"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 rot="0">
            <a:off x="0" y="1056005"/>
            <a:ext cx="12192000" cy="220345"/>
            <a:chOff x="0" y="0"/>
            <a:chExt cx="24384000" cy="407200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407162"/>
            </a:xfrm>
            <a:custGeom>
              <a:avLst/>
              <a:gdLst/>
              <a:ahLst/>
              <a:cxnLst/>
              <a:rect l="l" t="t" r="r" b="b"/>
              <a:pathLst>
                <a:path w="24384000" h="407162">
                  <a:moveTo>
                    <a:pt x="0" y="0"/>
                  </a:moveTo>
                  <a:lnTo>
                    <a:pt x="24384000" y="0"/>
                  </a:lnTo>
                  <a:lnTo>
                    <a:pt x="24384000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en-US" altLang="en-US" b="1" smtClean="0">
                <a:solidFill>
                  <a:schemeClr val="tx1"/>
                </a:solidFill>
              </a:rPr>
            </a:fld>
            <a:endParaRPr lang="en-US" altLang="en-US" b="1" smtClean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b="1" smtClean="0">
                <a:solidFill>
                  <a:schemeClr val="tx1"/>
                </a:solidFill>
              </a:rPr>
            </a:fld>
            <a:endParaRPr lang="zh-CN" altLang="en-US" b="1" smtClean="0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45440" y="1276350"/>
            <a:ext cx="11505565" cy="1822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4765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5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Visualization (Line Chart) </a:t>
            </a:r>
            <a:r>
              <a:rPr lang="en-US" sz="25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Close Index</a:t>
            </a:r>
            <a:endParaRPr lang="en-US" sz="25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67665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4765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305" y="2187575"/>
            <a:ext cx="9850524" cy="365760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340995" y="272415"/>
            <a:ext cx="1151001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Exploratory Data Analysis (EDA)</a:t>
            </a:r>
            <a:endParaRPr lang="en-US" sz="3000"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 rot="0">
            <a:off x="0" y="1056005"/>
            <a:ext cx="12192000" cy="220345"/>
            <a:chOff x="0" y="0"/>
            <a:chExt cx="24384000" cy="407200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407162"/>
            </a:xfrm>
            <a:custGeom>
              <a:avLst/>
              <a:gdLst/>
              <a:ahLst/>
              <a:cxnLst/>
              <a:rect l="l" t="t" r="r" b="b"/>
              <a:pathLst>
                <a:path w="24384000" h="407162">
                  <a:moveTo>
                    <a:pt x="0" y="0"/>
                  </a:moveTo>
                  <a:lnTo>
                    <a:pt x="24384000" y="0"/>
                  </a:lnTo>
                  <a:lnTo>
                    <a:pt x="24384000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en-US" altLang="en-US" b="1" smtClean="0">
                <a:solidFill>
                  <a:schemeClr val="tx1"/>
                </a:solidFill>
              </a:rPr>
            </a:fld>
            <a:endParaRPr lang="en-US" altLang="en-US" b="1" smtClean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b="1" smtClean="0">
                <a:solidFill>
                  <a:schemeClr val="tx1"/>
                </a:solidFill>
              </a:rPr>
            </a:fld>
            <a:endParaRPr lang="zh-CN" altLang="en-US" b="1" smtClean="0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45440" y="1276350"/>
            <a:ext cx="11505565" cy="1822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4765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5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Visualization (Line Chart) </a:t>
            </a:r>
            <a:r>
              <a:rPr lang="en-US" sz="25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Close Index</a:t>
            </a:r>
            <a:endParaRPr lang="en-US" sz="25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67665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4765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845" y="2234565"/>
            <a:ext cx="9850723" cy="365760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340995" y="272415"/>
            <a:ext cx="1151001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Exploratory Data Analysis (EDA)</a:t>
            </a:r>
            <a:endParaRPr lang="en-US" sz="3000"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 rot="0">
            <a:off x="0" y="1056005"/>
            <a:ext cx="12192000" cy="220345"/>
            <a:chOff x="0" y="0"/>
            <a:chExt cx="24384000" cy="407200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407162"/>
            </a:xfrm>
            <a:custGeom>
              <a:avLst/>
              <a:gdLst/>
              <a:ahLst/>
              <a:cxnLst/>
              <a:rect l="l" t="t" r="r" b="b"/>
              <a:pathLst>
                <a:path w="24384000" h="407162">
                  <a:moveTo>
                    <a:pt x="0" y="0"/>
                  </a:moveTo>
                  <a:lnTo>
                    <a:pt x="24384000" y="0"/>
                  </a:lnTo>
                  <a:lnTo>
                    <a:pt x="24384000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en-US" altLang="en-US" b="1" smtClean="0">
                <a:solidFill>
                  <a:schemeClr val="tx1"/>
                </a:solidFill>
              </a:rPr>
            </a:fld>
            <a:endParaRPr lang="en-US" altLang="en-US" b="1" smtClean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b="1" smtClean="0">
                <a:solidFill>
                  <a:schemeClr val="tx1"/>
                </a:solidFill>
              </a:rPr>
            </a:fld>
            <a:endParaRPr lang="zh-CN" altLang="en-US" b="1" smtClean="0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45440" y="1276350"/>
            <a:ext cx="11505565" cy="1822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4765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5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Visualization (Line Chart) </a:t>
            </a:r>
            <a:r>
              <a:rPr lang="en-US" sz="25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Close Index</a:t>
            </a:r>
            <a:endParaRPr lang="en-US" sz="25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67665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4765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2430" y="1950085"/>
            <a:ext cx="8866505" cy="440626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340995" y="272415"/>
            <a:ext cx="1151001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Exploratory Data Analysis (EDA)</a:t>
            </a:r>
            <a:endParaRPr lang="en-US" sz="3000"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 rot="0">
            <a:off x="0" y="1056005"/>
            <a:ext cx="12192000" cy="220345"/>
            <a:chOff x="0" y="0"/>
            <a:chExt cx="24384000" cy="407200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407162"/>
            </a:xfrm>
            <a:custGeom>
              <a:avLst/>
              <a:gdLst/>
              <a:ahLst/>
              <a:cxnLst/>
              <a:rect l="l" t="t" r="r" b="b"/>
              <a:pathLst>
                <a:path w="24384000" h="407162">
                  <a:moveTo>
                    <a:pt x="0" y="0"/>
                  </a:moveTo>
                  <a:lnTo>
                    <a:pt x="24384000" y="0"/>
                  </a:lnTo>
                  <a:lnTo>
                    <a:pt x="24384000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en-US" altLang="en-US" b="1" smtClean="0">
                <a:solidFill>
                  <a:schemeClr val="tx1"/>
                </a:solidFill>
              </a:rPr>
            </a:fld>
            <a:endParaRPr lang="en-US" altLang="en-US" b="1" smtClean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b="1" smtClean="0">
                <a:solidFill>
                  <a:schemeClr val="tx1"/>
                </a:solidFill>
              </a:rPr>
            </a:fld>
            <a:endParaRPr lang="zh-CN" altLang="en-US" b="1" smtClean="0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45440" y="1276350"/>
            <a:ext cx="11505565" cy="1822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4765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5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Visualization (Histogram) </a:t>
            </a:r>
            <a:r>
              <a:rPr lang="en-US" sz="25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Close Index &amp; Trading Volume</a:t>
            </a:r>
            <a:endParaRPr lang="en-US" sz="25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67665" lvl="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4765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25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70" y="2054225"/>
            <a:ext cx="10284460" cy="4117975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340995" y="272415"/>
            <a:ext cx="1151001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Exploratory Data Analysis (EDA)</a:t>
            </a:r>
            <a:endParaRPr lang="en-US" sz="3000"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 rot="0">
            <a:off x="0" y="1056005"/>
            <a:ext cx="12192000" cy="220345"/>
            <a:chOff x="0" y="0"/>
            <a:chExt cx="24384000" cy="407200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407162"/>
            </a:xfrm>
            <a:custGeom>
              <a:avLst/>
              <a:gdLst/>
              <a:ahLst/>
              <a:cxnLst/>
              <a:rect l="l" t="t" r="r" b="b"/>
              <a:pathLst>
                <a:path w="24384000" h="407162">
                  <a:moveTo>
                    <a:pt x="0" y="0"/>
                  </a:moveTo>
                  <a:lnTo>
                    <a:pt x="24384000" y="0"/>
                  </a:lnTo>
                  <a:lnTo>
                    <a:pt x="24384000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en-US" altLang="en-US" b="1" smtClean="0">
                <a:solidFill>
                  <a:schemeClr val="tx1"/>
                </a:solidFill>
              </a:rPr>
            </a:fld>
            <a:endParaRPr lang="en-US" altLang="en-US" b="1" smtClean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b="1" smtClean="0">
                <a:solidFill>
                  <a:schemeClr val="tx1"/>
                </a:solidFill>
              </a:rPr>
            </a:fld>
            <a:endParaRPr lang="zh-CN" altLang="en-US" b="1" smtClean="0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45440" y="1276350"/>
            <a:ext cx="11505565" cy="47307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4765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5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Anomaly Detection</a:t>
            </a:r>
            <a:endParaRPr lang="en-US" sz="25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vi-VN" altLang="en-US" sz="22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1. </a:t>
            </a:r>
            <a:r>
              <a:rPr lang="en-US" sz="22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Z-score:</a:t>
            </a:r>
            <a:r>
              <a:rPr lang="en-US" sz="2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Identifies outliers by measuring how many standard deviations a point is from the mean.</a:t>
            </a:r>
            <a:endParaRPr lang="en-US" sz="2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vi-VN" altLang="en-US" sz="22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</a:t>
            </a:r>
            <a:r>
              <a:rPr lang="en-US" sz="22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IQR:</a:t>
            </a:r>
            <a:r>
              <a:rPr lang="en-US" sz="2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Detects outliers as values falling below Q1 − 1.5×IQR or above Q3 + 1.5×IQR.</a:t>
            </a:r>
            <a:endParaRPr lang="en-US" sz="2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vi-VN" altLang="en-US" sz="22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 </a:t>
            </a:r>
            <a:r>
              <a:rPr lang="en-US" sz="22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Rolling Z-score:</a:t>
            </a:r>
            <a:r>
              <a:rPr lang="en-US" sz="220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Applies Z-score on a moving window to find outliers in time series data.</a:t>
            </a:r>
            <a:endParaRPr lang="en-US" sz="2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vi-VN" altLang="en-US" sz="22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4. </a:t>
            </a:r>
            <a:r>
              <a:rPr lang="en-US" sz="22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Seasonal Decomposition Residuals:</a:t>
            </a:r>
            <a:r>
              <a:rPr lang="en-US" sz="2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Flags outliers as large deviations in the residual component after decomposing trend and seasonality.</a:t>
            </a:r>
            <a:endParaRPr lang="en-US" sz="2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vi-VN" altLang="en-US" sz="22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5. </a:t>
            </a:r>
            <a:r>
              <a:rPr lang="en-US" sz="22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Isolation Forest:</a:t>
            </a:r>
            <a:r>
              <a:rPr lang="en-US" sz="220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2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Uses an ensemble of random trees to isolate anomalies that require fewer splits to separate.</a:t>
            </a:r>
            <a:endParaRPr lang="en-US" sz="22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40995" y="272415"/>
            <a:ext cx="1151001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Exploratory Data Analysis (EDA)</a:t>
            </a:r>
            <a:endParaRPr lang="en-US" sz="3000"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 rot="0">
            <a:off x="0" y="1056005"/>
            <a:ext cx="12192000" cy="220345"/>
            <a:chOff x="0" y="0"/>
            <a:chExt cx="24384000" cy="407200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407162"/>
            </a:xfrm>
            <a:custGeom>
              <a:avLst/>
              <a:gdLst/>
              <a:ahLst/>
              <a:cxnLst/>
              <a:rect l="l" t="t" r="r" b="b"/>
              <a:pathLst>
                <a:path w="24384000" h="407162">
                  <a:moveTo>
                    <a:pt x="0" y="0"/>
                  </a:moveTo>
                  <a:lnTo>
                    <a:pt x="24384000" y="0"/>
                  </a:lnTo>
                  <a:lnTo>
                    <a:pt x="24384000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en-US" altLang="en-US" b="1" smtClean="0">
                <a:solidFill>
                  <a:schemeClr val="tx1"/>
                </a:solidFill>
              </a:rPr>
            </a:fld>
            <a:endParaRPr lang="en-US" altLang="en-US" b="1" smtClean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b="1" smtClean="0">
                <a:solidFill>
                  <a:schemeClr val="tx1"/>
                </a:solidFill>
              </a:rPr>
            </a:fld>
            <a:endParaRPr lang="zh-CN" altLang="en-US" b="1" smtClean="0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45440" y="1276350"/>
            <a:ext cx="11505565" cy="1176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4765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5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Anomaly Detection</a:t>
            </a:r>
            <a:endParaRPr lang="en-US" sz="25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2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345440" y="2068195"/>
          <a:ext cx="11887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5745"/>
                <a:gridCol w="1969135"/>
                <a:gridCol w="2040255"/>
                <a:gridCol w="1988820"/>
                <a:gridCol w="3103245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</a:rPr>
                        <a:t>Date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2020-03-26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2020-03-26</a:t>
                      </a:r>
                      <a:endParaRPr lang="en-US" sz="1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2020-03-26</a:t>
                      </a:r>
                      <a:endParaRPr lang="en-US" sz="1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2020-03-26</a:t>
                      </a:r>
                      <a:endParaRPr lang="en-US" sz="1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noFill/>
                  </a:tcPr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</a:rPr>
                        <a:t>z_close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True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False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False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</a:rPr>
                        <a:t>iqr_close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False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False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True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False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</a:rPr>
                        <a:t>decomp_close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False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True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False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False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</a:rPr>
                        <a:t>arima_close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False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False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False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False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</a:rPr>
                        <a:t>iso_multivariate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False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True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True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False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</a:rPr>
                        <a:t>rolling_close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False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False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True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False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</a:rPr>
                        <a:t>any_outlier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True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True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True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False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0">
                          <a:solidFill>
                            <a:schemeClr val="tx1"/>
                          </a:solidFill>
                        </a:rPr>
                        <a:t>n_methods_flagged</a:t>
                      </a:r>
                      <a:endParaRPr 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b="1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b="1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b="1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b="1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2" name="Text Box 1"/>
          <p:cNvSpPr txBox="1"/>
          <p:nvPr/>
        </p:nvSpPr>
        <p:spPr>
          <a:xfrm>
            <a:off x="340995" y="272415"/>
            <a:ext cx="1151001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Exploratory Data Analysis (EDA)</a:t>
            </a:r>
            <a:endParaRPr lang="en-US" sz="3000"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 rot="0">
            <a:off x="0" y="1056005"/>
            <a:ext cx="12192000" cy="220345"/>
            <a:chOff x="0" y="0"/>
            <a:chExt cx="24384000" cy="407200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407162"/>
            </a:xfrm>
            <a:custGeom>
              <a:avLst/>
              <a:gdLst/>
              <a:ahLst/>
              <a:cxnLst/>
              <a:rect l="l" t="t" r="r" b="b"/>
              <a:pathLst>
                <a:path w="24384000" h="407162">
                  <a:moveTo>
                    <a:pt x="0" y="0"/>
                  </a:moveTo>
                  <a:lnTo>
                    <a:pt x="24384000" y="0"/>
                  </a:lnTo>
                  <a:lnTo>
                    <a:pt x="24384000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en-US" altLang="en-US" b="1" smtClean="0">
                <a:solidFill>
                  <a:schemeClr val="tx1"/>
                </a:solidFill>
              </a:rPr>
            </a:fld>
            <a:endParaRPr lang="en-US" altLang="en-US" b="1" smtClean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b="1" smtClean="0">
                <a:solidFill>
                  <a:schemeClr val="tx1"/>
                </a:solidFill>
              </a:rPr>
            </a:fld>
            <a:endParaRPr lang="zh-CN" altLang="en-US" b="1" smtClean="0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45440" y="1276350"/>
            <a:ext cx="11505565" cy="1176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4765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25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Anomaly Detection</a:t>
            </a:r>
            <a:endParaRPr lang="en-US" sz="25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2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4820" y="1941830"/>
            <a:ext cx="8722360" cy="4335145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2045970" y="5351780"/>
            <a:ext cx="685165" cy="685165"/>
          </a:xfrm>
          <a:prstGeom prst="ellipse">
            <a:avLst/>
          </a:prstGeom>
          <a:noFill/>
          <a:ln w="28575" cmpd="sng">
            <a:solidFill>
              <a:srgbClr val="FF33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654425" y="4978400"/>
            <a:ext cx="685165" cy="685165"/>
          </a:xfrm>
          <a:prstGeom prst="ellipse">
            <a:avLst/>
          </a:prstGeom>
          <a:noFill/>
          <a:ln w="28575" cmpd="sng">
            <a:solidFill>
              <a:srgbClr val="FF33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8676640" y="4113530"/>
            <a:ext cx="685165" cy="685165"/>
          </a:xfrm>
          <a:prstGeom prst="ellipse">
            <a:avLst/>
          </a:prstGeom>
          <a:noFill/>
          <a:ln w="28575" cmpd="sng">
            <a:solidFill>
              <a:srgbClr val="FF33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340995" y="272415"/>
            <a:ext cx="1151001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2. Exploratory Data Analysis (EDA)</a:t>
            </a:r>
            <a:endParaRPr lang="en-US" sz="3000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 rot="0">
            <a:off x="0" y="1056005"/>
            <a:ext cx="12192000" cy="220345"/>
            <a:chOff x="0" y="0"/>
            <a:chExt cx="24384000" cy="407200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407162"/>
            </a:xfrm>
            <a:custGeom>
              <a:avLst/>
              <a:gdLst/>
              <a:ahLst/>
              <a:cxnLst/>
              <a:rect l="l" t="t" r="r" b="b"/>
              <a:pathLst>
                <a:path w="24384000" h="407162">
                  <a:moveTo>
                    <a:pt x="0" y="0"/>
                  </a:moveTo>
                  <a:lnTo>
                    <a:pt x="24384000" y="0"/>
                  </a:lnTo>
                  <a:lnTo>
                    <a:pt x="24384000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sp>
        <p:nvSpPr>
          <p:cNvPr id="4" name="Text Box 3"/>
          <p:cNvSpPr txBox="1"/>
          <p:nvPr/>
        </p:nvSpPr>
        <p:spPr>
          <a:xfrm>
            <a:off x="340995" y="272415"/>
            <a:ext cx="1151001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 Proability Distribution Analysis</a:t>
            </a:r>
            <a:endParaRPr lang="en-US" sz="3000" b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en-US" altLang="en-US" b="1" smtClean="0">
                <a:solidFill>
                  <a:schemeClr val="tx1"/>
                </a:solidFill>
              </a:rPr>
            </a:fld>
            <a:endParaRPr lang="en-US" altLang="en-US" b="1" smtClean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b="1" smtClean="0">
                <a:solidFill>
                  <a:schemeClr val="tx1"/>
                </a:solidFill>
              </a:rPr>
            </a:fld>
            <a:endParaRPr lang="zh-CN" altLang="en-US" b="1" smtClean="0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45440" y="1276350"/>
            <a:ext cx="11505565" cy="66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5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Close Index &amp; Trading Volume</a:t>
            </a:r>
            <a:endParaRPr lang="en-US" sz="22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7765" y="2176780"/>
            <a:ext cx="9856470" cy="394652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 rot="0">
            <a:off x="0" y="1056005"/>
            <a:ext cx="12192000" cy="220345"/>
            <a:chOff x="0" y="0"/>
            <a:chExt cx="24384000" cy="407200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407162"/>
            </a:xfrm>
            <a:custGeom>
              <a:avLst/>
              <a:gdLst/>
              <a:ahLst/>
              <a:cxnLst/>
              <a:rect l="l" t="t" r="r" b="b"/>
              <a:pathLst>
                <a:path w="24384000" h="407162">
                  <a:moveTo>
                    <a:pt x="0" y="0"/>
                  </a:moveTo>
                  <a:lnTo>
                    <a:pt x="24384000" y="0"/>
                  </a:lnTo>
                  <a:lnTo>
                    <a:pt x="24384000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en-US" altLang="en-US" b="1" smtClean="0">
                <a:solidFill>
                  <a:schemeClr val="tx1"/>
                </a:solidFill>
              </a:rPr>
            </a:fld>
            <a:endParaRPr lang="en-US" altLang="en-US" b="1" smtClean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b="1" smtClean="0">
                <a:solidFill>
                  <a:schemeClr val="tx1"/>
                </a:solidFill>
              </a:rPr>
            </a:fld>
            <a:endParaRPr lang="zh-CN" altLang="en-US" b="1" smtClean="0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45440" y="1276350"/>
            <a:ext cx="11505565" cy="66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5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IEF &amp; VIXY</a:t>
            </a:r>
            <a:endParaRPr lang="en-US" sz="22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2175510"/>
            <a:ext cx="9865546" cy="3950208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40995" y="272415"/>
            <a:ext cx="1151001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 Proability Distribution Analysis</a:t>
            </a:r>
            <a:endParaRPr lang="en-US" sz="3000"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 rot="0">
            <a:off x="0" y="1056005"/>
            <a:ext cx="12192000" cy="220345"/>
            <a:chOff x="0" y="0"/>
            <a:chExt cx="24384000" cy="407200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407162"/>
            </a:xfrm>
            <a:custGeom>
              <a:avLst/>
              <a:gdLst/>
              <a:ahLst/>
              <a:cxnLst/>
              <a:rect l="l" t="t" r="r" b="b"/>
              <a:pathLst>
                <a:path w="24384000" h="407162">
                  <a:moveTo>
                    <a:pt x="0" y="0"/>
                  </a:moveTo>
                  <a:lnTo>
                    <a:pt x="24384000" y="0"/>
                  </a:lnTo>
                  <a:lnTo>
                    <a:pt x="24384000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en-US" altLang="en-US" b="1" smtClean="0">
                <a:solidFill>
                  <a:schemeClr val="tx1"/>
                </a:solidFill>
              </a:rPr>
            </a:fld>
            <a:endParaRPr lang="en-US" altLang="en-US" b="1" smtClean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b="1" smtClean="0">
                <a:solidFill>
                  <a:schemeClr val="tx1"/>
                </a:solidFill>
              </a:rPr>
            </a:fld>
            <a:endParaRPr lang="zh-CN" altLang="en-US" b="1" smtClean="0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45440" y="1276350"/>
            <a:ext cx="11505565" cy="269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5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Normality Test and Distribution Fit</a:t>
            </a:r>
            <a:endParaRPr lang="en-US" sz="25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altLang="en-US" sz="22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Shapiro-Wilk</a:t>
            </a:r>
            <a:r>
              <a:rPr lang="vi-VN" altLang="en-US" sz="22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 Specifically designed to test normality. It evaluates how well the data’s order statistics fit a normal distribution.</a:t>
            </a:r>
            <a:endParaRPr lang="vi-VN" altLang="en-US" sz="22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altLang="en-US" sz="22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Kolmogorov-Smirnow</a:t>
            </a:r>
            <a:r>
              <a:rPr lang="vi-VN" altLang="en-US" sz="22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 A general goodness-of-fit test comparing the empirical CDF (cumulative distribution function) of the data to a reference distribution</a:t>
            </a:r>
            <a:endParaRPr lang="vi-VN" altLang="en-US" sz="22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11" name="Table 10"/>
          <p:cNvGraphicFramePr/>
          <p:nvPr/>
        </p:nvGraphicFramePr>
        <p:xfrm>
          <a:off x="680085" y="407035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286000"/>
                <a:gridCol w="2560320"/>
                <a:gridCol w="2560320"/>
                <a:gridCol w="2560320"/>
              </a:tblGrid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vi-VN" altLang="en-US">
                          <a:solidFill>
                            <a:schemeClr val="tx1"/>
                          </a:solidFill>
                        </a:rPr>
                        <a:t>Index</a:t>
                      </a:r>
                      <a:endParaRPr lang="vi-VN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Variable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Shapiro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KS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Distribution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Close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2.046193e-06  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3.566853e-02   </a:t>
                      </a:r>
                      <a:endParaRPr lang="en-US" sz="1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Non-normal</a:t>
                      </a:r>
                      <a:endParaRPr lang="en-US" sz="1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Volume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2.518490e-18  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1.548785e-06   </a:t>
                      </a:r>
                      <a:endParaRPr lang="en-US" sz="1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Non-normal</a:t>
                      </a:r>
                      <a:endParaRPr lang="en-US" sz="1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IEF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7.141461e-07  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5.485859e-02   </a:t>
                      </a:r>
                      <a:endParaRPr lang="en-US" sz="1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Non-normal</a:t>
                      </a:r>
                      <a:endParaRPr lang="en-US" sz="1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VIXY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2.117785e-14  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1.984101e-10   </a:t>
                      </a:r>
                      <a:endParaRPr lang="en-US" sz="1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sym typeface="+mn-ea"/>
                        </a:rPr>
                        <a:t>Non-normal</a:t>
                      </a:r>
                      <a:endParaRPr lang="en-US" sz="1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" name="Text Box 1"/>
          <p:cNvSpPr txBox="1"/>
          <p:nvPr/>
        </p:nvSpPr>
        <p:spPr>
          <a:xfrm>
            <a:off x="340995" y="272415"/>
            <a:ext cx="1151001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3. Proability Distribution Analysis</a:t>
            </a:r>
            <a:endParaRPr lang="en-US" sz="3000" b="1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 rot="0">
            <a:off x="0" y="1056005"/>
            <a:ext cx="12192000" cy="220345"/>
            <a:chOff x="0" y="0"/>
            <a:chExt cx="24384000" cy="407200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407162"/>
            </a:xfrm>
            <a:custGeom>
              <a:avLst/>
              <a:gdLst/>
              <a:ahLst/>
              <a:cxnLst/>
              <a:rect l="l" t="t" r="r" b="b"/>
              <a:pathLst>
                <a:path w="24384000" h="407162">
                  <a:moveTo>
                    <a:pt x="0" y="0"/>
                  </a:moveTo>
                  <a:lnTo>
                    <a:pt x="24384000" y="0"/>
                  </a:lnTo>
                  <a:lnTo>
                    <a:pt x="24384000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sp>
        <p:nvSpPr>
          <p:cNvPr id="4" name="Text Box 3"/>
          <p:cNvSpPr txBox="1"/>
          <p:nvPr/>
        </p:nvSpPr>
        <p:spPr>
          <a:xfrm>
            <a:off x="340995" y="272415"/>
            <a:ext cx="1151001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vi-VN" alt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</a:t>
            </a:r>
            <a:r>
              <a:rPr 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Hypothesis Testing</a:t>
            </a:r>
            <a:endParaRPr lang="en-US" sz="3000" b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en-US" altLang="en-US" b="1" smtClean="0">
                <a:solidFill>
                  <a:schemeClr val="tx1"/>
                </a:solidFill>
              </a:rPr>
            </a:fld>
            <a:endParaRPr lang="en-US" altLang="en-US" b="1" smtClean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b="1" smtClean="0">
                <a:solidFill>
                  <a:schemeClr val="tx1"/>
                </a:solidFill>
              </a:rPr>
            </a:fld>
            <a:endParaRPr lang="zh-CN" altLang="en-US" b="1" smtClean="0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45440" y="1276350"/>
            <a:ext cx="11505565" cy="52387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5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T-test: </a:t>
            </a:r>
            <a:r>
              <a:rPr lang="en-US" sz="220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Is there a significant difference in trading volume between periods of low volatility and high volatility in the stock market?</a:t>
            </a:r>
            <a:endParaRPr lang="en-US" sz="2200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Null hypothesis: The mean trading volume during low-volatility and high-volatility periods are equal.</a:t>
            </a:r>
            <a:endParaRPr lang="en-US" sz="2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Alternative hypothesis: The mean trading volumes differ between the two periods.</a:t>
            </a:r>
            <a:endParaRPr lang="en-US" sz="2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dataset was divided into two groups based on the median of VIXY:</a:t>
            </a:r>
            <a:endParaRPr lang="en-US" sz="2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Low-volatility period: VIXY &lt; median(VIXY)</a:t>
            </a:r>
            <a:endParaRPr lang="en-US" sz="2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High-volatility period: VIXY ≥ median(VIXY)</a:t>
            </a:r>
            <a:endParaRPr lang="en-US" sz="2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vi-VN" altLang="en-US" sz="22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 rot="0">
            <a:off x="0" y="1056005"/>
            <a:ext cx="12192000" cy="220345"/>
            <a:chOff x="0" y="0"/>
            <a:chExt cx="24384000" cy="407200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407162"/>
            </a:xfrm>
            <a:custGeom>
              <a:avLst/>
              <a:gdLst/>
              <a:ahLst/>
              <a:cxnLst/>
              <a:rect l="l" t="t" r="r" b="b"/>
              <a:pathLst>
                <a:path w="24384000" h="407162">
                  <a:moveTo>
                    <a:pt x="0" y="0"/>
                  </a:moveTo>
                  <a:lnTo>
                    <a:pt x="24384000" y="0"/>
                  </a:lnTo>
                  <a:lnTo>
                    <a:pt x="24384000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en-US" altLang="en-US" b="1" smtClean="0">
                <a:solidFill>
                  <a:schemeClr val="tx1"/>
                </a:solidFill>
              </a:rPr>
            </a:fld>
            <a:endParaRPr lang="en-US" altLang="en-US" b="1" smtClean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b="1" smtClean="0">
                <a:solidFill>
                  <a:schemeClr val="tx1"/>
                </a:solidFill>
              </a:rPr>
            </a:fld>
            <a:endParaRPr lang="zh-CN" altLang="en-US" b="1" smtClean="0">
              <a:solidFill>
                <a:schemeClr val="tx1"/>
              </a:solidFill>
            </a:endParaRPr>
          </a:p>
        </p:txBody>
      </p:sp>
      <p:sp useBgFill="1">
        <p:nvSpPr>
          <p:cNvPr id="7" name="Text Box 6"/>
          <p:cNvSpPr txBox="1"/>
          <p:nvPr/>
        </p:nvSpPr>
        <p:spPr>
          <a:xfrm>
            <a:off x="345440" y="1276350"/>
            <a:ext cx="11505565" cy="2699385"/>
          </a:xfrm>
          <a:prstGeom prst="rect">
            <a:avLst/>
          </a:prstGeom>
        </p:spPr>
        <p:txBody>
          <a:bodyPr wrap="square" rtlCol="0">
            <a:spAutoFit/>
          </a:bodyPr>
          <a:p>
            <a:pPr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5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T-test</a:t>
            </a:r>
            <a:r>
              <a:rPr lang="vi-VN" altLang="en-US" sz="25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 </a:t>
            </a:r>
            <a:r>
              <a:rPr lang="en-US" sz="2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Result</a:t>
            </a:r>
            <a:endParaRPr lang="en-US" sz="2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t-statistic: 2.325</a:t>
            </a:r>
            <a:endParaRPr lang="en-US" sz="2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p-value: 0.02012</a:t>
            </a:r>
            <a:endParaRPr lang="en-US" sz="2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2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Answer: </a:t>
            </a:r>
            <a:r>
              <a:rPr lang="en-US" sz="2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There is a statistically significant difference in trading volume between low- and high-volatility periods</a:t>
            </a:r>
            <a:endParaRPr lang="vi-VN" altLang="en-US" sz="22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40995" y="272415"/>
            <a:ext cx="1151001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vi-VN" alt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</a:t>
            </a:r>
            <a:r>
              <a:rPr 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Hypothesis Testing</a:t>
            </a:r>
            <a:endParaRPr lang="en-US" sz="3000"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 rot="0">
            <a:off x="0" y="1056005"/>
            <a:ext cx="12192000" cy="220345"/>
            <a:chOff x="0" y="0"/>
            <a:chExt cx="24384000" cy="407200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407162"/>
            </a:xfrm>
            <a:custGeom>
              <a:avLst/>
              <a:gdLst/>
              <a:ahLst/>
              <a:cxnLst/>
              <a:rect l="l" t="t" r="r" b="b"/>
              <a:pathLst>
                <a:path w="24384000" h="407162">
                  <a:moveTo>
                    <a:pt x="0" y="0"/>
                  </a:moveTo>
                  <a:lnTo>
                    <a:pt x="24384000" y="0"/>
                  </a:lnTo>
                  <a:lnTo>
                    <a:pt x="24384000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en-US" altLang="en-US" b="1" smtClean="0">
                <a:solidFill>
                  <a:schemeClr val="tx1"/>
                </a:solidFill>
              </a:rPr>
            </a:fld>
            <a:endParaRPr lang="en-US" altLang="en-US" b="1" smtClean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b="1" smtClean="0">
                <a:solidFill>
                  <a:schemeClr val="tx1"/>
                </a:solidFill>
              </a:rPr>
            </a:fld>
            <a:endParaRPr lang="zh-CN" altLang="en-US" b="1" smtClean="0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45440" y="1276350"/>
            <a:ext cx="11505565" cy="47307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5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ANOVA test: </a:t>
            </a:r>
            <a:r>
              <a:rPr lang="en-US" sz="2200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Is there a significant difference in the S&amp;P 500 closing price (Close) among different economic periods?</a:t>
            </a:r>
            <a:endParaRPr lang="en-US" sz="2200">
              <a:solidFill>
                <a:srgbClr val="FF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Null hypothesis: The mean closing prices are the same across all economic periods.</a:t>
            </a:r>
            <a:endParaRPr lang="en-US" sz="2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Alternative hypothesis: At least one period has a different mean closing price.</a:t>
            </a:r>
            <a:endParaRPr lang="en-US" sz="2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data was divided into three economic phases:</a:t>
            </a:r>
            <a:endParaRPr lang="en-US" sz="2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Before COVID-19: 2011–2019</a:t>
            </a:r>
            <a:endParaRPr lang="en-US" sz="2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During COVID-19: 2020–2021</a:t>
            </a:r>
            <a:endParaRPr lang="en-US" sz="2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After COVID-19: 2022–2023</a:t>
            </a:r>
            <a:endParaRPr lang="vi-VN" altLang="en-US" sz="22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40995" y="272415"/>
            <a:ext cx="1151001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vi-VN" alt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</a:t>
            </a:r>
            <a:r>
              <a:rPr 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Hypothesis Testing</a:t>
            </a:r>
            <a:endParaRPr lang="en-US" sz="3000"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 rot="0">
            <a:off x="0" y="1056005"/>
            <a:ext cx="12192000" cy="220345"/>
            <a:chOff x="0" y="0"/>
            <a:chExt cx="24384000" cy="407200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407162"/>
            </a:xfrm>
            <a:custGeom>
              <a:avLst/>
              <a:gdLst/>
              <a:ahLst/>
              <a:cxnLst/>
              <a:rect l="l" t="t" r="r" b="b"/>
              <a:pathLst>
                <a:path w="24384000" h="407162">
                  <a:moveTo>
                    <a:pt x="0" y="0"/>
                  </a:moveTo>
                  <a:lnTo>
                    <a:pt x="24384000" y="0"/>
                  </a:lnTo>
                  <a:lnTo>
                    <a:pt x="24384000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en-US" altLang="en-US" b="1" smtClean="0">
                <a:solidFill>
                  <a:schemeClr val="tx1"/>
                </a:solidFill>
              </a:rPr>
            </a:fld>
            <a:endParaRPr lang="en-US" altLang="en-US" b="1" smtClean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b="1" smtClean="0">
                <a:solidFill>
                  <a:schemeClr val="tx1"/>
                </a:solidFill>
              </a:rPr>
            </a:fld>
            <a:endParaRPr lang="zh-CN" altLang="en-US" b="1" smtClean="0">
              <a:solidFill>
                <a:schemeClr val="tx1"/>
              </a:solidFill>
            </a:endParaRPr>
          </a:p>
        </p:txBody>
      </p:sp>
      <p:sp useBgFill="1">
        <p:nvSpPr>
          <p:cNvPr id="7" name="Text Box 6"/>
          <p:cNvSpPr txBox="1"/>
          <p:nvPr/>
        </p:nvSpPr>
        <p:spPr>
          <a:xfrm>
            <a:off x="345440" y="1276350"/>
            <a:ext cx="11505565" cy="2976880"/>
          </a:xfrm>
          <a:prstGeom prst="rect">
            <a:avLst/>
          </a:prstGeom>
        </p:spPr>
        <p:txBody>
          <a:bodyPr wrap="square" rtlCol="0">
            <a:spAutoFit/>
          </a:bodyPr>
          <a:p>
            <a:pPr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5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ANOVA test</a:t>
            </a:r>
            <a:r>
              <a:rPr lang="vi-VN" altLang="en-US" sz="25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 </a:t>
            </a:r>
            <a:r>
              <a:rPr lang="vi-VN" altLang="en-US" sz="25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Result </a:t>
            </a:r>
            <a:endParaRPr lang="en-US" sz="25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f-statistic: 4588.007</a:t>
            </a:r>
            <a:endParaRPr lang="en-US" sz="25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p-value: 0.0000</a:t>
            </a:r>
            <a:endParaRPr lang="en-US" sz="2500" b="1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5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Answer: </a:t>
            </a:r>
            <a:r>
              <a:rPr lang="en-US" sz="25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Therefore, there are significant differences in the mean closing price among three economic periods.</a:t>
            </a:r>
            <a:r>
              <a:rPr lang="en-US" sz="25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vi-VN" altLang="en-US" sz="22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40995" y="272415"/>
            <a:ext cx="1151001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vi-VN" alt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</a:t>
            </a:r>
            <a:r>
              <a:rPr 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Hypothesis Testing</a:t>
            </a:r>
            <a:endParaRPr lang="en-US" sz="3000" b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 rot="0">
            <a:off x="0" y="1056005"/>
            <a:ext cx="12192000" cy="220345"/>
            <a:chOff x="0" y="0"/>
            <a:chExt cx="24384000" cy="407200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407162"/>
            </a:xfrm>
            <a:custGeom>
              <a:avLst/>
              <a:gdLst/>
              <a:ahLst/>
              <a:cxnLst/>
              <a:rect l="l" t="t" r="r" b="b"/>
              <a:pathLst>
                <a:path w="24384000" h="407162">
                  <a:moveTo>
                    <a:pt x="0" y="0"/>
                  </a:moveTo>
                  <a:lnTo>
                    <a:pt x="24384000" y="0"/>
                  </a:lnTo>
                  <a:lnTo>
                    <a:pt x="24384000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en-US" altLang="en-US" b="1" smtClean="0">
                <a:solidFill>
                  <a:schemeClr val="tx1"/>
                </a:solidFill>
              </a:rPr>
            </a:fld>
            <a:endParaRPr lang="en-US" altLang="en-US" b="1" smtClean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b="1" smtClean="0">
                <a:solidFill>
                  <a:schemeClr val="tx1"/>
                </a:solidFill>
              </a:rPr>
            </a:fld>
            <a:endParaRPr lang="zh-CN" altLang="en-US" b="1" smtClean="0">
              <a:solidFill>
                <a:schemeClr val="tx1"/>
              </a:solidFill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340995" y="272415"/>
            <a:ext cx="1151001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vi-VN" alt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</a:t>
            </a:r>
            <a:r>
              <a:rPr 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 </a:t>
            </a:r>
            <a:r>
              <a:rPr lang="vi-VN" alt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Correlation Analysis</a:t>
            </a:r>
            <a:endParaRPr lang="vi-VN" altLang="en-US" sz="3000" b="1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534670" y="1530350"/>
            <a:ext cx="11012805" cy="4572000"/>
            <a:chOff x="537" y="2010"/>
            <a:chExt cx="17343" cy="7200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37" y="2010"/>
              <a:ext cx="8476" cy="7200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04" y="2010"/>
              <a:ext cx="8476" cy="7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 rot="0">
            <a:off x="0" y="1056005"/>
            <a:ext cx="12192000" cy="220345"/>
            <a:chOff x="0" y="0"/>
            <a:chExt cx="24384000" cy="407200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407162"/>
            </a:xfrm>
            <a:custGeom>
              <a:avLst/>
              <a:gdLst/>
              <a:ahLst/>
              <a:cxnLst/>
              <a:rect l="l" t="t" r="r" b="b"/>
              <a:pathLst>
                <a:path w="24384000" h="407162">
                  <a:moveTo>
                    <a:pt x="0" y="0"/>
                  </a:moveTo>
                  <a:lnTo>
                    <a:pt x="24384000" y="0"/>
                  </a:lnTo>
                  <a:lnTo>
                    <a:pt x="24384000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en-US" altLang="en-US" b="1" smtClean="0">
                <a:solidFill>
                  <a:schemeClr val="tx1"/>
                </a:solidFill>
              </a:rPr>
            </a:fld>
            <a:endParaRPr lang="en-US" altLang="en-US" b="1" smtClean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b="1" smtClean="0">
                <a:solidFill>
                  <a:schemeClr val="tx1"/>
                </a:solidFill>
              </a:rPr>
            </a:fld>
            <a:endParaRPr lang="zh-CN" altLang="en-US" b="1" smtClean="0">
              <a:solidFill>
                <a:schemeClr val="tx1"/>
              </a:solidFill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340995" y="272415"/>
            <a:ext cx="1151001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vi-VN" alt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6. Multiple Linear Regression</a:t>
            </a:r>
            <a:endParaRPr lang="vi-VN" altLang="en-US" sz="3000" b="1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 useBgFill="1">
        <p:nvSpPr>
          <p:cNvPr id="10" name="Text Box 9"/>
          <p:cNvSpPr txBox="1"/>
          <p:nvPr/>
        </p:nvSpPr>
        <p:spPr>
          <a:xfrm>
            <a:off x="345440" y="1276350"/>
            <a:ext cx="11505565" cy="3553460"/>
          </a:xfrm>
          <a:prstGeom prst="rect">
            <a:avLst/>
          </a:prstGeom>
        </p:spPr>
        <p:txBody>
          <a:bodyPr wrap="square" rtlCol="0">
            <a:spAutoFit/>
          </a:bodyPr>
          <a:p>
            <a:pPr indent="0" algn="just">
              <a:lnSpc>
                <a:spcPct val="150000"/>
              </a:lnSpc>
              <a:buNone/>
            </a:pPr>
            <a:r>
              <a:rPr lang="en-US" sz="2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Model Implementation</a:t>
            </a:r>
            <a:endParaRPr lang="en-US" sz="25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Target (y): Close</a:t>
            </a:r>
            <a:endParaRPr lang="en-US" sz="25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Predictors (X): Open, High, Low, Volume, CPI, GLD, IEF, USO, UUP, VIXY, Close_lag1, Close_lag2, Close_lag3</a:t>
            </a:r>
            <a:endParaRPr lang="en-US" sz="25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model was trained using Linear Regression with a time-based train-test split (80%-20%).</a:t>
            </a:r>
            <a:endParaRPr lang="vi-VN" altLang="en-US" sz="22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/>
          <p:cNvGrpSpPr/>
          <p:nvPr/>
        </p:nvGrpSpPr>
        <p:grpSpPr>
          <a:xfrm rot="0">
            <a:off x="0" y="1056005"/>
            <a:ext cx="12192000" cy="220345"/>
            <a:chOff x="0" y="0"/>
            <a:chExt cx="24384000" cy="407200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407162"/>
            </a:xfrm>
            <a:custGeom>
              <a:avLst/>
              <a:gdLst/>
              <a:ahLst/>
              <a:cxnLst/>
              <a:rect l="l" t="t" r="r" b="b"/>
              <a:pathLst>
                <a:path w="24384000" h="407162">
                  <a:moveTo>
                    <a:pt x="0" y="0"/>
                  </a:moveTo>
                  <a:lnTo>
                    <a:pt x="24384000" y="0"/>
                  </a:lnTo>
                  <a:lnTo>
                    <a:pt x="24384000" y="407162"/>
                  </a:lnTo>
                  <a:lnTo>
                    <a:pt x="0" y="407162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1">
              <a:rPr lang="en-US" altLang="en-US" b="1" smtClean="0">
                <a:solidFill>
                  <a:schemeClr val="tx1"/>
                </a:solidFill>
              </a:rPr>
            </a:fld>
            <a:endParaRPr lang="en-US" altLang="en-US" b="1" smtClean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b="1" smtClean="0">
                <a:solidFill>
                  <a:schemeClr val="tx1"/>
                </a:solidFill>
              </a:rPr>
            </a:fld>
            <a:endParaRPr lang="zh-CN" altLang="en-US" b="1" smtClean="0">
              <a:solidFill>
                <a:schemeClr val="tx1"/>
              </a:solidFill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340995" y="272415"/>
            <a:ext cx="1151001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vi-VN" altLang="en-US" sz="30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6. Multiple Linear Regression</a:t>
            </a:r>
            <a:endParaRPr lang="vi-VN" altLang="en-US" sz="3000" b="1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 useBgFill="1">
        <p:nvSpPr>
          <p:cNvPr id="10" name="Text Box 9"/>
          <p:cNvSpPr txBox="1"/>
          <p:nvPr/>
        </p:nvSpPr>
        <p:spPr>
          <a:xfrm>
            <a:off x="345440" y="1276350"/>
            <a:ext cx="11505565" cy="1684020"/>
          </a:xfrm>
          <a:prstGeom prst="rect">
            <a:avLst/>
          </a:prstGeom>
        </p:spPr>
        <p:txBody>
          <a:bodyPr wrap="square" rtlCol="0">
            <a:spAutoFit/>
          </a:bodyPr>
          <a:p>
            <a:pPr indent="0" algn="just">
              <a:lnSpc>
                <a:spcPct val="150000"/>
              </a:lnSpc>
              <a:buNone/>
            </a:pPr>
            <a:r>
              <a:rPr lang="en-US" sz="2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Model </a:t>
            </a:r>
            <a:r>
              <a:rPr lang="vi-VN" altLang="en-US" sz="2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Evaluation</a:t>
            </a:r>
            <a:endParaRPr lang="en-US" sz="25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altLang="en-US" sz="22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R2: 0.9962</a:t>
            </a:r>
            <a:endParaRPr lang="vi-VN" altLang="en-US" sz="22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altLang="en-US" sz="220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RMSE: 16.9717</a:t>
            </a:r>
            <a:endParaRPr lang="vi-VN" altLang="en-US" sz="220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1400" y="1565910"/>
            <a:ext cx="6635115" cy="5155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6707</Words>
  <Application>WPS Presentation</Application>
  <PresentationFormat>宽屏</PresentationFormat>
  <Paragraphs>636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5" baseType="lpstr">
      <vt:lpstr>Arial</vt:lpstr>
      <vt:lpstr>SimSun</vt:lpstr>
      <vt:lpstr>Wingdings</vt:lpstr>
      <vt:lpstr>Arial</vt:lpstr>
      <vt:lpstr>Arial Italics</vt:lpstr>
      <vt:lpstr>Arial Bold Italics</vt:lpstr>
      <vt:lpstr>Arial Bold</vt:lpstr>
      <vt:lpstr>Microsoft YaHei</vt:lpstr>
      <vt:lpstr>文泉驿微米黑</vt:lpstr>
      <vt:lpstr>Arial Unicode MS</vt:lpstr>
      <vt:lpstr>Arial Black</vt:lpstr>
      <vt:lpstr>SimSun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nguyen-quang-huy</cp:lastModifiedBy>
  <cp:revision>10</cp:revision>
  <dcterms:created xsi:type="dcterms:W3CDTF">2025-11-12T17:30:54Z</dcterms:created>
  <dcterms:modified xsi:type="dcterms:W3CDTF">2025-11-12T17:30:54Z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1033-11.1.0.10920</vt:lpwstr>
  </property>
</Properties>
</file>